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Campus Loop as a campus-focused marketplace for useful student items. Explain the four modes: buying/selling, renting, exchanging and giving away. Presented by Srusthi Pisal, Shraddha Dhadas and Sanchita Yadav. The screenshots show the actual deployed application, not a design mockup.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problem with a simple example: a student needs a calculator while another student no longer uses one. Chat groups help people communicate, but item information and availability are difficult to organise. These are the problems addressed by the project; we have not conducted a formal survey or measured cost savings.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these four objectives clearly. The target users are students, who can both buy and sell, and administrators, who maintain the platform. Each objective is linked to an implemented feature. Reuse is the intended benefit; avoid claiming a measured reduction in waste or cost without a study.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screenshots and describe the practical design choices: search is easy to find, listing cards show the information needed to compare items, and mobile navigation fits smaller screens. Real photos are used when uploaded; illustrated placeholders are labelled when a photo is missing.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seller requests confirmation and the buyer confirms receipt. A seller cannot simply mark a transaction as sold independently. The system prevents competing pending deals for the same listing. Mention cancellation and the durable record visible to both participants. This is a handoff workflow, not a payment gateway.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architecture through a simple action: when a student posts an item, the website sends the form to server-side code; the code checks the input and signed-in user, then saves it in PostgreSQL using Prisma. The website displays the saved item. Prisma is the tool used to access the database, not a separate database. Use the technology names only after explaining their purpose.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this table instead of describing every database table. One student account can be a buyer in one deal and a seller in another, so separate buyer and seller accounts are unnecessary. The deals record connects both students to the item. Maintenance means keeping availability correct, reviewing reports, exporting records and backing up data before significant changes. A backup was taken before the production update; do not describe backups as an automatic scheduled feature. Passwords are stored as hashes, not plain text. The table shows selected fields, not the entire schema.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an account with the admin role can open the admin panel. Srusthi has admin access for the demonstration. Explain that email is for notifications; replies are sent inside Campus Loop. Email is sent to the address saved on the account. Users can turn message and deal notifications on or off. The system prevents repeated message emails while the same conversation is still unread. Avoid promising that every email will reach the inbox: the provider can accept mail that a receiving service later filters.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test examples on the slide rather than leading with technical statistics. Login should protect restricted pages. A saved listing should appear in search. The seller starts a request and only the selected buyer confirms receipt. Layouts should fit phones and desktops. Supporting evidence: 208 unit tests, 11 browser tests and database integration checks passed during implementation; live public pages and access controls were also checked. Email behaviour was tested with a simulated provider, not by confirming real inbox delivery. Vercel hosts the application and Neon hosts its PostgreSQL database. A production backup and rehearsal preceded the database update. These checks are not a formal load test or security audit.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live link and keep two student sessions ready if demonstrating a handoff. Start with discovery, then show messaging, seller request and buyer confirmation. Finish with My Loop history and the admin panel. Explain that online payments, push notifications and campus identity verification are future possibilities, not implemented features. Close with the intended benefit: making useful student items easier to find and reuse.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ampus-loop-rho.vercel.app" TargetMode="External"/><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3B2B"/>
        </a:solidFill>
        <a:effectLst/>
      </p:bgPr>
    </p:bg>
    <p:spTree>
      <p:nvGrpSpPr>
        <p:cNvPr id="1" name=""/>
        <p:cNvGrpSpPr/>
        <p:nvPr/>
      </p:nvGrpSpPr>
      <p:grpSpPr/>
      <p:sp>
        <p:nvSpPr>
          <p:cNvPr id="2" name="TextBox 1"/>
          <p:cNvSpPr txBox="1"/>
          <p:nvPr/>
        </p:nvSpPr>
        <p:spPr>
          <a:xfrm>
            <a:off x="502920" y="347472"/>
            <a:ext cx="10058400" cy="274320"/>
          </a:xfrm>
          <a:prstGeom prst="rect">
            <a:avLst/>
          </a:prstGeom>
          <a:noFill/>
        </p:spPr>
        <p:txBody>
          <a:bodyPr wrap="square" lIns="0" rIns="0" tIns="0" bIns="0">
            <a:spAutoFit/>
          </a:bodyPr>
          <a:lstStyle/>
          <a:p>
            <a:pPr>
              <a:spcAft>
                <a:spcPts val="900"/>
              </a:spcAft>
              <a:defRPr sz="1100" b="1">
                <a:solidFill>
                  <a:srgbClr val="E9CD76"/>
                </a:solidFill>
                <a:latin typeface="Aptos"/>
              </a:defRPr>
            </a:pPr>
            <a:r>
              <a:t>COLLEGE PROJECT PRESENTATION</a:t>
            </a:r>
          </a:p>
        </p:txBody>
      </p:sp>
      <p:sp>
        <p:nvSpPr>
          <p:cNvPr id="3" name="TextBox 2"/>
          <p:cNvSpPr txBox="1"/>
          <p:nvPr/>
        </p:nvSpPr>
        <p:spPr>
          <a:xfrm>
            <a:off x="502920" y="850392"/>
            <a:ext cx="11155680" cy="960120"/>
          </a:xfrm>
          <a:prstGeom prst="rect">
            <a:avLst/>
          </a:prstGeom>
          <a:noFill/>
        </p:spPr>
        <p:txBody>
          <a:bodyPr wrap="square" lIns="0" rIns="0" tIns="0" bIns="0">
            <a:spAutoFit/>
          </a:bodyPr>
          <a:lstStyle/>
          <a:p>
            <a:pPr>
              <a:spcAft>
                <a:spcPts val="900"/>
              </a:spcAft>
              <a:defRPr sz="3400" b="1">
                <a:solidFill>
                  <a:srgbClr val="FFFDF8"/>
                </a:solidFill>
                <a:latin typeface="Aptos"/>
              </a:defRPr>
            </a:pPr>
            <a:r>
              <a:t>Campus Loop</a:t>
            </a:r>
          </a:p>
        </p:txBody>
      </p:sp>
      <p:sp>
        <p:nvSpPr>
          <p:cNvPr id="4" name="Rectangle 3"/>
          <p:cNvSpPr/>
          <p:nvPr/>
        </p:nvSpPr>
        <p:spPr>
          <a:xfrm>
            <a:off x="502920" y="6419088"/>
            <a:ext cx="11183112" cy="13716"/>
          </a:xfrm>
          <a:prstGeom prst="rect">
            <a:avLst/>
          </a:prstGeom>
          <a:solidFill>
            <a:srgbClr val="254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37960"/>
            <a:ext cx="9144000" cy="164592"/>
          </a:xfrm>
          <a:prstGeom prst="rect">
            <a:avLst/>
          </a:prstGeom>
          <a:noFill/>
        </p:spPr>
        <p:txBody>
          <a:bodyPr wrap="square" lIns="0" rIns="0" tIns="0" bIns="0">
            <a:spAutoFit/>
          </a:bodyPr>
          <a:lstStyle/>
          <a:p>
            <a:pPr>
              <a:spcAft>
                <a:spcPts val="900"/>
              </a:spcAft>
              <a:defRPr sz="900" b="1">
                <a:solidFill>
                  <a:srgbClr val="DADDD1"/>
                </a:solidFill>
                <a:latin typeface="Aptos"/>
              </a:defRPr>
            </a:pPr>
            <a:r>
              <a:t>CAMPUS LOOP  /  COLLEGE PROJECT</a:t>
            </a:r>
          </a:p>
        </p:txBody>
      </p:sp>
      <p:sp>
        <p:nvSpPr>
          <p:cNvPr id="6" name="TextBox 5"/>
          <p:cNvSpPr txBox="1"/>
          <p:nvPr/>
        </p:nvSpPr>
        <p:spPr>
          <a:xfrm>
            <a:off x="11018520" y="6519672"/>
            <a:ext cx="731520" cy="201168"/>
          </a:xfrm>
          <a:prstGeom prst="rect">
            <a:avLst/>
          </a:prstGeom>
          <a:noFill/>
        </p:spPr>
        <p:txBody>
          <a:bodyPr wrap="square" lIns="0" rIns="0" tIns="0" bIns="0">
            <a:spAutoFit/>
          </a:bodyPr>
          <a:lstStyle/>
          <a:p>
            <a:pPr>
              <a:spcAft>
                <a:spcPts val="900"/>
              </a:spcAft>
              <a:defRPr sz="1000" b="1">
                <a:solidFill>
                  <a:srgbClr val="E9CD76"/>
                </a:solidFill>
                <a:latin typeface="Aptos"/>
              </a:defRPr>
            </a:pPr>
            <a:r>
              <a:t>01 / 10</a:t>
            </a:r>
          </a:p>
        </p:txBody>
      </p:sp>
      <p:sp>
        <p:nvSpPr>
          <p:cNvPr id="7" name="TextBox 6"/>
          <p:cNvSpPr txBox="1"/>
          <p:nvPr/>
        </p:nvSpPr>
        <p:spPr>
          <a:xfrm>
            <a:off x="548640" y="1965960"/>
            <a:ext cx="5577840" cy="1508760"/>
          </a:xfrm>
          <a:prstGeom prst="rect">
            <a:avLst/>
          </a:prstGeom>
          <a:noFill/>
        </p:spPr>
        <p:txBody>
          <a:bodyPr wrap="square" lIns="0" rIns="0" tIns="0" bIns="0">
            <a:spAutoFit/>
          </a:bodyPr>
          <a:lstStyle/>
          <a:p>
            <a:pPr>
              <a:spcAft>
                <a:spcPts val="900"/>
              </a:spcAft>
              <a:defRPr sz="3800" b="1">
                <a:solidFill>
                  <a:srgbClr val="FFFDF8"/>
                </a:solidFill>
                <a:latin typeface="Aptos"/>
              </a:defRPr>
            </a:pPr>
            <a:r>
              <a:t>A marketplace</a:t>
            </a:r>
          </a:p>
          <a:p>
            <a:pPr>
              <a:spcAft>
                <a:spcPts val="900"/>
              </a:spcAft>
              <a:defRPr sz="3800" b="1">
                <a:solidFill>
                  <a:srgbClr val="FFFDF8"/>
                </a:solidFill>
                <a:latin typeface="Aptos"/>
              </a:defRPr>
            </a:pPr>
            <a:r>
              <a:t>for college students.</a:t>
            </a:r>
          </a:p>
        </p:txBody>
      </p:sp>
      <p:sp>
        <p:nvSpPr>
          <p:cNvPr id="8" name="TextBox 7"/>
          <p:cNvSpPr txBox="1"/>
          <p:nvPr/>
        </p:nvSpPr>
        <p:spPr>
          <a:xfrm>
            <a:off x="566928" y="3749039"/>
            <a:ext cx="5577840" cy="457200"/>
          </a:xfrm>
          <a:prstGeom prst="rect">
            <a:avLst/>
          </a:prstGeom>
          <a:noFill/>
        </p:spPr>
        <p:txBody>
          <a:bodyPr wrap="square" lIns="0" rIns="0" tIns="0" bIns="0">
            <a:spAutoFit/>
          </a:bodyPr>
          <a:lstStyle/>
          <a:p>
            <a:pPr>
              <a:spcAft>
                <a:spcPts val="900"/>
              </a:spcAft>
              <a:defRPr sz="2200" b="0">
                <a:solidFill>
                  <a:srgbClr val="E9CD76"/>
                </a:solidFill>
                <a:latin typeface="Aptos"/>
              </a:defRPr>
            </a:pPr>
            <a:r>
              <a:t>Buy • Sell • Rent • Exchange • Give away</a:t>
            </a:r>
          </a:p>
        </p:txBody>
      </p:sp>
      <p:sp>
        <p:nvSpPr>
          <p:cNvPr id="9" name="TextBox 8"/>
          <p:cNvSpPr txBox="1"/>
          <p:nvPr/>
        </p:nvSpPr>
        <p:spPr>
          <a:xfrm>
            <a:off x="566928" y="4800600"/>
            <a:ext cx="5577840" cy="1280160"/>
          </a:xfrm>
          <a:prstGeom prst="rect">
            <a:avLst/>
          </a:prstGeom>
          <a:noFill/>
        </p:spPr>
        <p:txBody>
          <a:bodyPr wrap="square" lIns="0" rIns="0" tIns="0" bIns="0">
            <a:spAutoFit/>
          </a:bodyPr>
          <a:lstStyle/>
          <a:p>
            <a:pPr>
              <a:spcAft>
                <a:spcPts val="500"/>
              </a:spcAft>
              <a:defRPr sz="1800" b="0">
                <a:solidFill>
                  <a:srgbClr val="DADDD1"/>
                </a:solidFill>
                <a:latin typeface="Aptos"/>
              </a:defRPr>
            </a:pPr>
            <a:r>
              <a:t>Presented by</a:t>
            </a:r>
          </a:p>
          <a:p>
            <a:pPr>
              <a:spcAft>
                <a:spcPts val="500"/>
              </a:spcAft>
              <a:defRPr sz="1800">
                <a:solidFill>
                  <a:srgbClr val="DADDD1"/>
                </a:solidFill>
                <a:latin typeface="Aptos"/>
              </a:defRPr>
            </a:pPr>
            <a:r>
              <a:t>Srusthi Pisal • Shraddha Dhadas</a:t>
            </a:r>
          </a:p>
          <a:p>
            <a:pPr>
              <a:spcAft>
                <a:spcPts val="500"/>
              </a:spcAft>
              <a:defRPr sz="1800">
                <a:solidFill>
                  <a:srgbClr val="DADDD1"/>
                </a:solidFill>
                <a:latin typeface="Aptos"/>
              </a:defRPr>
            </a:pPr>
            <a:r>
              <a:t>Sanchita Yadav</a:t>
            </a:r>
          </a:p>
        </p:txBody>
      </p:sp>
      <p:sp>
        <p:nvSpPr>
          <p:cNvPr id="10" name="Rounded Rectangle 9"/>
          <p:cNvSpPr/>
          <p:nvPr/>
        </p:nvSpPr>
        <p:spPr>
          <a:xfrm>
            <a:off x="6446520" y="1097280"/>
            <a:ext cx="5212080" cy="4965192"/>
          </a:xfrm>
          <a:prstGeom prst="round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ampus-desktop-crop.png"/>
          <p:cNvPicPr>
            <a:picLocks noChangeAspect="1"/>
          </p:cNvPicPr>
          <p:nvPr/>
        </p:nvPicPr>
        <p:blipFill>
          <a:blip r:embed="rId2"/>
          <a:stretch>
            <a:fillRect/>
          </a:stretch>
        </p:blipFill>
        <p:spPr>
          <a:xfrm>
            <a:off x="6611112" y="1307592"/>
            <a:ext cx="4882896" cy="383171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502920" y="347472"/>
            <a:ext cx="10058400" cy="274320"/>
          </a:xfrm>
          <a:prstGeom prst="rect">
            <a:avLst/>
          </a:prstGeom>
          <a:noFill/>
        </p:spPr>
        <p:txBody>
          <a:bodyPr wrap="square" lIns="0" rIns="0" tIns="0" bIns="0">
            <a:spAutoFit/>
          </a:bodyPr>
          <a:lstStyle/>
          <a:p>
            <a:pPr>
              <a:spcAft>
                <a:spcPts val="900"/>
              </a:spcAft>
              <a:defRPr sz="1100" b="1">
                <a:solidFill>
                  <a:srgbClr val="254B3B"/>
                </a:solidFill>
                <a:latin typeface="Aptos"/>
              </a:defRPr>
            </a:pPr>
            <a:r>
              <a:t>01 / PROBLEM STATEMENT</a:t>
            </a:r>
          </a:p>
        </p:txBody>
      </p:sp>
      <p:sp>
        <p:nvSpPr>
          <p:cNvPr id="3" name="TextBox 2"/>
          <p:cNvSpPr txBox="1"/>
          <p:nvPr/>
        </p:nvSpPr>
        <p:spPr>
          <a:xfrm>
            <a:off x="502920" y="850392"/>
            <a:ext cx="11155680" cy="960120"/>
          </a:xfrm>
          <a:prstGeom prst="rect">
            <a:avLst/>
          </a:prstGeom>
          <a:noFill/>
        </p:spPr>
        <p:txBody>
          <a:bodyPr wrap="square" lIns="0" rIns="0" tIns="0" bIns="0">
            <a:spAutoFit/>
          </a:bodyPr>
          <a:lstStyle/>
          <a:p>
            <a:pPr>
              <a:spcAft>
                <a:spcPts val="900"/>
              </a:spcAft>
              <a:defRPr sz="3400" b="1">
                <a:solidFill>
                  <a:srgbClr val="202721"/>
                </a:solidFill>
                <a:latin typeface="Aptos"/>
              </a:defRPr>
            </a:pPr>
            <a:r>
              <a:t>Why do we need Campus Loop?</a:t>
            </a:r>
          </a:p>
        </p:txBody>
      </p:sp>
      <p:sp>
        <p:nvSpPr>
          <p:cNvPr id="4" name="TextBox 3"/>
          <p:cNvSpPr txBox="1"/>
          <p:nvPr/>
        </p:nvSpPr>
        <p:spPr>
          <a:xfrm>
            <a:off x="530352" y="1773936"/>
            <a:ext cx="11064240" cy="594360"/>
          </a:xfrm>
          <a:prstGeom prst="rect">
            <a:avLst/>
          </a:prstGeom>
          <a:noFill/>
        </p:spPr>
        <p:txBody>
          <a:bodyPr wrap="square" lIns="0" rIns="0" tIns="0" bIns="0">
            <a:spAutoFit/>
          </a:bodyPr>
          <a:lstStyle/>
          <a:p>
            <a:pPr>
              <a:spcAft>
                <a:spcPts val="900"/>
              </a:spcAft>
              <a:defRPr sz="1700" b="0">
                <a:solidFill>
                  <a:srgbClr val="626960"/>
                </a:solidFill>
                <a:latin typeface="Aptos"/>
              </a:defRPr>
            </a:pPr>
            <a:r>
              <a:t>Students need an organised place to find and share useful items.</a:t>
            </a:r>
          </a:p>
        </p:txBody>
      </p:sp>
      <p:sp>
        <p:nvSpPr>
          <p:cNvPr id="5" name="Rectangle 4"/>
          <p:cNvSpPr/>
          <p:nvPr/>
        </p:nvSpPr>
        <p:spPr>
          <a:xfrm>
            <a:off x="502920" y="6419088"/>
            <a:ext cx="11183112" cy="13716"/>
          </a:xfrm>
          <a:prstGeom prst="rect">
            <a:avLst/>
          </a:prstGeom>
          <a:solidFill>
            <a:srgbClr val="DA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37960"/>
            <a:ext cx="9144000" cy="164592"/>
          </a:xfrm>
          <a:prstGeom prst="rect">
            <a:avLst/>
          </a:prstGeom>
          <a:noFill/>
        </p:spPr>
        <p:txBody>
          <a:bodyPr wrap="square" lIns="0" rIns="0" tIns="0" bIns="0">
            <a:spAutoFit/>
          </a:bodyPr>
          <a:lstStyle/>
          <a:p>
            <a:pPr>
              <a:spcAft>
                <a:spcPts val="900"/>
              </a:spcAft>
              <a:defRPr sz="900" b="1">
                <a:solidFill>
                  <a:srgbClr val="626960"/>
                </a:solidFill>
                <a:latin typeface="Aptos"/>
              </a:defRPr>
            </a:pPr>
            <a:r>
              <a:t>CAMPUS LOOP  /  COLLEGE PROJECT</a:t>
            </a:r>
          </a:p>
        </p:txBody>
      </p:sp>
      <p:sp>
        <p:nvSpPr>
          <p:cNvPr id="7" name="TextBox 6"/>
          <p:cNvSpPr txBox="1"/>
          <p:nvPr/>
        </p:nvSpPr>
        <p:spPr>
          <a:xfrm>
            <a:off x="11018520" y="6519672"/>
            <a:ext cx="731520" cy="201168"/>
          </a:xfrm>
          <a:prstGeom prst="rect">
            <a:avLst/>
          </a:prstGeom>
          <a:noFill/>
        </p:spPr>
        <p:txBody>
          <a:bodyPr wrap="square" lIns="0" rIns="0" tIns="0" bIns="0">
            <a:spAutoFit/>
          </a:bodyPr>
          <a:lstStyle/>
          <a:p>
            <a:pPr>
              <a:spcAft>
                <a:spcPts val="900"/>
              </a:spcAft>
              <a:defRPr sz="1000" b="1">
                <a:solidFill>
                  <a:srgbClr val="254B3B"/>
                </a:solidFill>
                <a:latin typeface="Aptos"/>
              </a:defRPr>
            </a:pPr>
            <a:r>
              <a:t>02 / 10</a:t>
            </a:r>
          </a:p>
        </p:txBody>
      </p:sp>
      <p:sp>
        <p:nvSpPr>
          <p:cNvPr id="8" name="Rounded Rectangle 7"/>
          <p:cNvSpPr/>
          <p:nvPr/>
        </p:nvSpPr>
        <p:spPr>
          <a:xfrm>
            <a:off x="548640" y="2606040"/>
            <a:ext cx="3566160" cy="3337560"/>
          </a:xfrm>
          <a:prstGeom prst="round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788920"/>
            <a:ext cx="3127248" cy="320040"/>
          </a:xfrm>
          <a:prstGeom prst="rect">
            <a:avLst/>
          </a:prstGeom>
          <a:noFill/>
        </p:spPr>
        <p:txBody>
          <a:bodyPr wrap="square" lIns="0" rIns="0" tIns="0" bIns="0">
            <a:spAutoFit/>
          </a:bodyPr>
          <a:lstStyle/>
          <a:p>
            <a:pPr>
              <a:spcAft>
                <a:spcPts val="900"/>
              </a:spcAft>
              <a:defRPr sz="1400" b="1">
                <a:solidFill>
                  <a:srgbClr val="254B3B"/>
                </a:solidFill>
                <a:latin typeface="Aptos"/>
              </a:defRPr>
            </a:pPr>
            <a:r>
              <a:t>DISCOVERY</a:t>
            </a:r>
          </a:p>
        </p:txBody>
      </p:sp>
      <p:sp>
        <p:nvSpPr>
          <p:cNvPr id="10" name="TextBox 9"/>
          <p:cNvSpPr txBox="1"/>
          <p:nvPr/>
        </p:nvSpPr>
        <p:spPr>
          <a:xfrm>
            <a:off x="768096" y="3310128"/>
            <a:ext cx="3127248" cy="822960"/>
          </a:xfrm>
          <a:prstGeom prst="rect">
            <a:avLst/>
          </a:prstGeom>
          <a:noFill/>
        </p:spPr>
        <p:txBody>
          <a:bodyPr wrap="square" lIns="0" rIns="0" tIns="0" bIns="0">
            <a:spAutoFit/>
          </a:bodyPr>
          <a:lstStyle/>
          <a:p>
            <a:pPr>
              <a:spcAft>
                <a:spcPts val="900"/>
              </a:spcAft>
              <a:defRPr sz="2200" b="1">
                <a:solidFill>
                  <a:srgbClr val="254B3B"/>
                </a:solidFill>
                <a:latin typeface="Aptos"/>
              </a:defRPr>
            </a:pPr>
            <a:r>
              <a:t>Scattered information</a:t>
            </a:r>
          </a:p>
        </p:txBody>
      </p:sp>
      <p:sp>
        <p:nvSpPr>
          <p:cNvPr id="11" name="TextBox 10"/>
          <p:cNvSpPr txBox="1"/>
          <p:nvPr/>
        </p:nvSpPr>
        <p:spPr>
          <a:xfrm>
            <a:off x="768096" y="4096512"/>
            <a:ext cx="3127248" cy="1691639"/>
          </a:xfrm>
          <a:prstGeom prst="rect">
            <a:avLst/>
          </a:prstGeom>
          <a:noFill/>
        </p:spPr>
        <p:txBody>
          <a:bodyPr wrap="square" lIns="0" rIns="0" tIns="0" bIns="0">
            <a:spAutoFit/>
          </a:bodyPr>
          <a:lstStyle/>
          <a:p>
            <a:pPr>
              <a:spcAft>
                <a:spcPts val="900"/>
              </a:spcAft>
              <a:defRPr sz="1800" b="0">
                <a:solidFill>
                  <a:srgbClr val="626960"/>
                </a:solidFill>
                <a:latin typeface="Aptos"/>
              </a:defRPr>
            </a:pPr>
            <a:r>
              <a:t>Item details are shared through chats and contacts, making them difficult to find later.</a:t>
            </a:r>
          </a:p>
        </p:txBody>
      </p:sp>
      <p:sp>
        <p:nvSpPr>
          <p:cNvPr id="12" name="Rounded Rectangle 11"/>
          <p:cNvSpPr/>
          <p:nvPr/>
        </p:nvSpPr>
        <p:spPr>
          <a:xfrm>
            <a:off x="4315968" y="2606040"/>
            <a:ext cx="3566160" cy="3337560"/>
          </a:xfrm>
          <a:prstGeom prst="round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2788920"/>
            <a:ext cx="3127248" cy="320040"/>
          </a:xfrm>
          <a:prstGeom prst="rect">
            <a:avLst/>
          </a:prstGeom>
          <a:noFill/>
        </p:spPr>
        <p:txBody>
          <a:bodyPr wrap="square" lIns="0" rIns="0" tIns="0" bIns="0">
            <a:spAutoFit/>
          </a:bodyPr>
          <a:lstStyle/>
          <a:p>
            <a:pPr>
              <a:spcAft>
                <a:spcPts val="900"/>
              </a:spcAft>
              <a:defRPr sz="1400" b="1">
                <a:solidFill>
                  <a:srgbClr val="254B3B"/>
                </a:solidFill>
                <a:latin typeface="Aptos"/>
              </a:defRPr>
            </a:pPr>
            <a:r>
              <a:t>AVAILABILITY</a:t>
            </a:r>
          </a:p>
        </p:txBody>
      </p:sp>
      <p:sp>
        <p:nvSpPr>
          <p:cNvPr id="14" name="TextBox 13"/>
          <p:cNvSpPr txBox="1"/>
          <p:nvPr/>
        </p:nvSpPr>
        <p:spPr>
          <a:xfrm>
            <a:off x="4535424" y="3310128"/>
            <a:ext cx="3127248" cy="822960"/>
          </a:xfrm>
          <a:prstGeom prst="rect">
            <a:avLst/>
          </a:prstGeom>
          <a:noFill/>
        </p:spPr>
        <p:txBody>
          <a:bodyPr wrap="square" lIns="0" rIns="0" tIns="0" bIns="0">
            <a:spAutoFit/>
          </a:bodyPr>
          <a:lstStyle/>
          <a:p>
            <a:pPr>
              <a:spcAft>
                <a:spcPts val="900"/>
              </a:spcAft>
              <a:defRPr sz="2200" b="1">
                <a:solidFill>
                  <a:srgbClr val="254B3B"/>
                </a:solidFill>
                <a:latin typeface="Aptos"/>
              </a:defRPr>
            </a:pPr>
            <a:r>
              <a:t>Unclear item status</a:t>
            </a:r>
          </a:p>
        </p:txBody>
      </p:sp>
      <p:sp>
        <p:nvSpPr>
          <p:cNvPr id="15" name="TextBox 14"/>
          <p:cNvSpPr txBox="1"/>
          <p:nvPr/>
        </p:nvSpPr>
        <p:spPr>
          <a:xfrm>
            <a:off x="4535424" y="4096512"/>
            <a:ext cx="3127248" cy="1691639"/>
          </a:xfrm>
          <a:prstGeom prst="rect">
            <a:avLst/>
          </a:prstGeom>
          <a:noFill/>
        </p:spPr>
        <p:txBody>
          <a:bodyPr wrap="square" lIns="0" rIns="0" tIns="0" bIns="0">
            <a:spAutoFit/>
          </a:bodyPr>
          <a:lstStyle/>
          <a:p>
            <a:pPr>
              <a:spcAft>
                <a:spcPts val="900"/>
              </a:spcAft>
              <a:defRPr sz="1800" b="0">
                <a:solidFill>
                  <a:srgbClr val="626960"/>
                </a:solidFill>
                <a:latin typeface="Aptos"/>
              </a:defRPr>
            </a:pPr>
            <a:r>
              <a:t>Students may not know whether an item is still available or has already been taken.</a:t>
            </a:r>
          </a:p>
        </p:txBody>
      </p:sp>
      <p:sp>
        <p:nvSpPr>
          <p:cNvPr id="16" name="Rounded Rectangle 15"/>
          <p:cNvSpPr/>
          <p:nvPr/>
        </p:nvSpPr>
        <p:spPr>
          <a:xfrm>
            <a:off x="8083296" y="2606040"/>
            <a:ext cx="3566160" cy="3337560"/>
          </a:xfrm>
          <a:prstGeom prst="round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2788920"/>
            <a:ext cx="3127248" cy="320040"/>
          </a:xfrm>
          <a:prstGeom prst="rect">
            <a:avLst/>
          </a:prstGeom>
          <a:noFill/>
        </p:spPr>
        <p:txBody>
          <a:bodyPr wrap="square" lIns="0" rIns="0" tIns="0" bIns="0">
            <a:spAutoFit/>
          </a:bodyPr>
          <a:lstStyle/>
          <a:p>
            <a:pPr>
              <a:spcAft>
                <a:spcPts val="900"/>
              </a:spcAft>
              <a:defRPr sz="1400" b="1">
                <a:solidFill>
                  <a:srgbClr val="254B3B"/>
                </a:solidFill>
                <a:latin typeface="Aptos"/>
              </a:defRPr>
            </a:pPr>
            <a:r>
              <a:t>RECORDS</a:t>
            </a:r>
          </a:p>
        </p:txBody>
      </p:sp>
      <p:sp>
        <p:nvSpPr>
          <p:cNvPr id="18" name="TextBox 17"/>
          <p:cNvSpPr txBox="1"/>
          <p:nvPr/>
        </p:nvSpPr>
        <p:spPr>
          <a:xfrm>
            <a:off x="8302752" y="3310128"/>
            <a:ext cx="3127248" cy="822960"/>
          </a:xfrm>
          <a:prstGeom prst="rect">
            <a:avLst/>
          </a:prstGeom>
          <a:noFill/>
        </p:spPr>
        <p:txBody>
          <a:bodyPr wrap="square" lIns="0" rIns="0" tIns="0" bIns="0">
            <a:spAutoFit/>
          </a:bodyPr>
          <a:lstStyle/>
          <a:p>
            <a:pPr>
              <a:spcAft>
                <a:spcPts val="900"/>
              </a:spcAft>
              <a:defRPr sz="2200" b="1">
                <a:solidFill>
                  <a:srgbClr val="254B3B"/>
                </a:solidFill>
                <a:latin typeface="Aptos"/>
              </a:defRPr>
            </a:pPr>
            <a:r>
              <a:t>No organised history</a:t>
            </a:r>
          </a:p>
        </p:txBody>
      </p:sp>
      <p:sp>
        <p:nvSpPr>
          <p:cNvPr id="19" name="TextBox 18"/>
          <p:cNvSpPr txBox="1"/>
          <p:nvPr/>
        </p:nvSpPr>
        <p:spPr>
          <a:xfrm>
            <a:off x="8302752" y="4096512"/>
            <a:ext cx="3127248" cy="1691639"/>
          </a:xfrm>
          <a:prstGeom prst="rect">
            <a:avLst/>
          </a:prstGeom>
          <a:noFill/>
        </p:spPr>
        <p:txBody>
          <a:bodyPr wrap="square" lIns="0" rIns="0" tIns="0" bIns="0">
            <a:spAutoFit/>
          </a:bodyPr>
          <a:lstStyle/>
          <a:p>
            <a:pPr>
              <a:spcAft>
                <a:spcPts val="900"/>
              </a:spcAft>
              <a:defRPr sz="1800" b="0">
                <a:solidFill>
                  <a:srgbClr val="626960"/>
                </a:solidFill>
                <a:latin typeface="Aptos"/>
              </a:defRPr>
            </a:pPr>
            <a:r>
              <a:t>Informal exchanges do not provide one place to track messages and completed deals.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502920" y="347472"/>
            <a:ext cx="10058400" cy="274320"/>
          </a:xfrm>
          <a:prstGeom prst="rect">
            <a:avLst/>
          </a:prstGeom>
          <a:noFill/>
        </p:spPr>
        <p:txBody>
          <a:bodyPr wrap="square" lIns="0" rIns="0" tIns="0" bIns="0">
            <a:spAutoFit/>
          </a:bodyPr>
          <a:lstStyle/>
          <a:p>
            <a:pPr>
              <a:spcAft>
                <a:spcPts val="900"/>
              </a:spcAft>
              <a:defRPr sz="1100" b="1">
                <a:solidFill>
                  <a:srgbClr val="254B3B"/>
                </a:solidFill>
                <a:latin typeface="Aptos"/>
              </a:defRPr>
            </a:pPr>
            <a:r>
              <a:t>02 / PROJECT OBJECTIVES</a:t>
            </a:r>
          </a:p>
        </p:txBody>
      </p:sp>
      <p:sp>
        <p:nvSpPr>
          <p:cNvPr id="3" name="TextBox 2"/>
          <p:cNvSpPr txBox="1"/>
          <p:nvPr/>
        </p:nvSpPr>
        <p:spPr>
          <a:xfrm>
            <a:off x="502920" y="850392"/>
            <a:ext cx="11155680" cy="960120"/>
          </a:xfrm>
          <a:prstGeom prst="rect">
            <a:avLst/>
          </a:prstGeom>
          <a:noFill/>
        </p:spPr>
        <p:txBody>
          <a:bodyPr wrap="square" lIns="0" rIns="0" tIns="0" bIns="0">
            <a:spAutoFit/>
          </a:bodyPr>
          <a:lstStyle/>
          <a:p>
            <a:pPr>
              <a:spcAft>
                <a:spcPts val="900"/>
              </a:spcAft>
              <a:defRPr sz="3400" b="1">
                <a:solidFill>
                  <a:srgbClr val="202721"/>
                </a:solidFill>
                <a:latin typeface="Aptos"/>
              </a:defRPr>
            </a:pPr>
            <a:r>
              <a:t>What does our project aim to do?</a:t>
            </a:r>
          </a:p>
        </p:txBody>
      </p:sp>
      <p:sp>
        <p:nvSpPr>
          <p:cNvPr id="4" name="TextBox 3"/>
          <p:cNvSpPr txBox="1"/>
          <p:nvPr/>
        </p:nvSpPr>
        <p:spPr>
          <a:xfrm>
            <a:off x="530352" y="1773936"/>
            <a:ext cx="11064240" cy="594360"/>
          </a:xfrm>
          <a:prstGeom prst="rect">
            <a:avLst/>
          </a:prstGeom>
          <a:noFill/>
        </p:spPr>
        <p:txBody>
          <a:bodyPr wrap="square" lIns="0" rIns="0" tIns="0" bIns="0">
            <a:spAutoFit/>
          </a:bodyPr>
          <a:lstStyle/>
          <a:p>
            <a:pPr>
              <a:spcAft>
                <a:spcPts val="900"/>
              </a:spcAft>
              <a:defRPr sz="1700" b="0">
                <a:solidFill>
                  <a:srgbClr val="626960"/>
                </a:solidFill>
                <a:latin typeface="Aptos"/>
              </a:defRPr>
            </a:pPr>
            <a:r>
              <a:t>One account can be used for both buying and selling.</a:t>
            </a:r>
          </a:p>
        </p:txBody>
      </p:sp>
      <p:sp>
        <p:nvSpPr>
          <p:cNvPr id="5" name="Rectangle 4"/>
          <p:cNvSpPr/>
          <p:nvPr/>
        </p:nvSpPr>
        <p:spPr>
          <a:xfrm>
            <a:off x="502920" y="6419088"/>
            <a:ext cx="11183112" cy="13716"/>
          </a:xfrm>
          <a:prstGeom prst="rect">
            <a:avLst/>
          </a:prstGeom>
          <a:solidFill>
            <a:srgbClr val="DA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37960"/>
            <a:ext cx="9144000" cy="164592"/>
          </a:xfrm>
          <a:prstGeom prst="rect">
            <a:avLst/>
          </a:prstGeom>
          <a:noFill/>
        </p:spPr>
        <p:txBody>
          <a:bodyPr wrap="square" lIns="0" rIns="0" tIns="0" bIns="0">
            <a:spAutoFit/>
          </a:bodyPr>
          <a:lstStyle/>
          <a:p>
            <a:pPr>
              <a:spcAft>
                <a:spcPts val="900"/>
              </a:spcAft>
              <a:defRPr sz="900" b="1">
                <a:solidFill>
                  <a:srgbClr val="626960"/>
                </a:solidFill>
                <a:latin typeface="Aptos"/>
              </a:defRPr>
            </a:pPr>
            <a:r>
              <a:t>CAMPUS LOOP  /  COLLEGE PROJECT</a:t>
            </a:r>
          </a:p>
        </p:txBody>
      </p:sp>
      <p:sp>
        <p:nvSpPr>
          <p:cNvPr id="7" name="TextBox 6"/>
          <p:cNvSpPr txBox="1"/>
          <p:nvPr/>
        </p:nvSpPr>
        <p:spPr>
          <a:xfrm>
            <a:off x="11018520" y="6519672"/>
            <a:ext cx="731520" cy="201168"/>
          </a:xfrm>
          <a:prstGeom prst="rect">
            <a:avLst/>
          </a:prstGeom>
          <a:noFill/>
        </p:spPr>
        <p:txBody>
          <a:bodyPr wrap="square" lIns="0" rIns="0" tIns="0" bIns="0">
            <a:spAutoFit/>
          </a:bodyPr>
          <a:lstStyle/>
          <a:p>
            <a:pPr>
              <a:spcAft>
                <a:spcPts val="900"/>
              </a:spcAft>
              <a:defRPr sz="1000" b="1">
                <a:solidFill>
                  <a:srgbClr val="254B3B"/>
                </a:solidFill>
                <a:latin typeface="Aptos"/>
              </a:defRPr>
            </a:pPr>
            <a:r>
              <a:t>03 / 10</a:t>
            </a:r>
          </a:p>
        </p:txBody>
      </p:sp>
      <p:sp>
        <p:nvSpPr>
          <p:cNvPr id="8" name="Rounded Rectangle 7"/>
          <p:cNvSpPr/>
          <p:nvPr/>
        </p:nvSpPr>
        <p:spPr>
          <a:xfrm>
            <a:off x="594360" y="2587752"/>
            <a:ext cx="5477256" cy="1353312"/>
          </a:xfrm>
          <a:prstGeom prst="round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788920"/>
            <a:ext cx="502920" cy="347472"/>
          </a:xfrm>
          <a:prstGeom prst="rect">
            <a:avLst/>
          </a:prstGeom>
          <a:noFill/>
        </p:spPr>
        <p:txBody>
          <a:bodyPr wrap="square" lIns="0" rIns="0" tIns="0" bIns="0">
            <a:spAutoFit/>
          </a:bodyPr>
          <a:lstStyle/>
          <a:p>
            <a:pPr>
              <a:spcAft>
                <a:spcPts val="900"/>
              </a:spcAft>
              <a:defRPr sz="1700" b="1">
                <a:solidFill>
                  <a:srgbClr val="254B3B"/>
                </a:solidFill>
                <a:latin typeface="Aptos"/>
              </a:defRPr>
            </a:pPr>
            <a:r>
              <a:t>01</a:t>
            </a:r>
          </a:p>
        </p:txBody>
      </p:sp>
      <p:sp>
        <p:nvSpPr>
          <p:cNvPr id="10" name="TextBox 9"/>
          <p:cNvSpPr txBox="1"/>
          <p:nvPr/>
        </p:nvSpPr>
        <p:spPr>
          <a:xfrm>
            <a:off x="1463040" y="2752344"/>
            <a:ext cx="4343400" cy="438912"/>
          </a:xfrm>
          <a:prstGeom prst="rect">
            <a:avLst/>
          </a:prstGeom>
          <a:noFill/>
        </p:spPr>
        <p:txBody>
          <a:bodyPr wrap="square" lIns="0" rIns="0" tIns="0" bIns="0">
            <a:spAutoFit/>
          </a:bodyPr>
          <a:lstStyle/>
          <a:p>
            <a:pPr>
              <a:spcAft>
                <a:spcPts val="900"/>
              </a:spcAft>
              <a:defRPr sz="2300" b="1">
                <a:solidFill>
                  <a:srgbClr val="254B3B"/>
                </a:solidFill>
                <a:latin typeface="Aptos"/>
              </a:defRPr>
            </a:pPr>
            <a:r>
              <a:t>Find useful items</a:t>
            </a:r>
          </a:p>
        </p:txBody>
      </p:sp>
      <p:sp>
        <p:nvSpPr>
          <p:cNvPr id="11" name="TextBox 10"/>
          <p:cNvSpPr txBox="1"/>
          <p:nvPr/>
        </p:nvSpPr>
        <p:spPr>
          <a:xfrm>
            <a:off x="1463040" y="3374136"/>
            <a:ext cx="4325112" cy="393192"/>
          </a:xfrm>
          <a:prstGeom prst="rect">
            <a:avLst/>
          </a:prstGeom>
          <a:noFill/>
        </p:spPr>
        <p:txBody>
          <a:bodyPr wrap="square" lIns="0" rIns="0" tIns="0" bIns="0">
            <a:spAutoFit/>
          </a:bodyPr>
          <a:lstStyle/>
          <a:p>
            <a:pPr>
              <a:spcAft>
                <a:spcPts val="900"/>
              </a:spcAft>
              <a:defRPr sz="1800" b="0">
                <a:solidFill>
                  <a:srgbClr val="626960"/>
                </a:solidFill>
                <a:latin typeface="Aptos"/>
              </a:defRPr>
            </a:pPr>
            <a:r>
              <a:t>Search by category and listing type.</a:t>
            </a:r>
          </a:p>
        </p:txBody>
      </p:sp>
      <p:sp>
        <p:nvSpPr>
          <p:cNvPr id="12" name="Rounded Rectangle 11"/>
          <p:cNvSpPr/>
          <p:nvPr/>
        </p:nvSpPr>
        <p:spPr>
          <a:xfrm>
            <a:off x="6263640" y="2587752"/>
            <a:ext cx="5477256" cy="1353312"/>
          </a:xfrm>
          <a:prstGeom prst="round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8" y="2788920"/>
            <a:ext cx="502920" cy="347472"/>
          </a:xfrm>
          <a:prstGeom prst="rect">
            <a:avLst/>
          </a:prstGeom>
          <a:noFill/>
        </p:spPr>
        <p:txBody>
          <a:bodyPr wrap="square" lIns="0" rIns="0" tIns="0" bIns="0">
            <a:spAutoFit/>
          </a:bodyPr>
          <a:lstStyle/>
          <a:p>
            <a:pPr>
              <a:spcAft>
                <a:spcPts val="900"/>
              </a:spcAft>
              <a:defRPr sz="1700" b="1">
                <a:solidFill>
                  <a:srgbClr val="254B3B"/>
                </a:solidFill>
                <a:latin typeface="Aptos"/>
              </a:defRPr>
            </a:pPr>
            <a:r>
              <a:t>02</a:t>
            </a:r>
          </a:p>
        </p:txBody>
      </p:sp>
      <p:sp>
        <p:nvSpPr>
          <p:cNvPr id="14" name="TextBox 13"/>
          <p:cNvSpPr txBox="1"/>
          <p:nvPr/>
        </p:nvSpPr>
        <p:spPr>
          <a:xfrm>
            <a:off x="7132320" y="2752344"/>
            <a:ext cx="4343400" cy="438912"/>
          </a:xfrm>
          <a:prstGeom prst="rect">
            <a:avLst/>
          </a:prstGeom>
          <a:noFill/>
        </p:spPr>
        <p:txBody>
          <a:bodyPr wrap="square" lIns="0" rIns="0" tIns="0" bIns="0">
            <a:spAutoFit/>
          </a:bodyPr>
          <a:lstStyle/>
          <a:p>
            <a:pPr>
              <a:spcAft>
                <a:spcPts val="900"/>
              </a:spcAft>
              <a:defRPr sz="2300" b="1">
                <a:solidFill>
                  <a:srgbClr val="254B3B"/>
                </a:solidFill>
                <a:latin typeface="Aptos"/>
              </a:defRPr>
            </a:pPr>
            <a:r>
              <a:t>Support reuse</a:t>
            </a:r>
          </a:p>
        </p:txBody>
      </p:sp>
      <p:sp>
        <p:nvSpPr>
          <p:cNvPr id="15" name="TextBox 14"/>
          <p:cNvSpPr txBox="1"/>
          <p:nvPr/>
        </p:nvSpPr>
        <p:spPr>
          <a:xfrm>
            <a:off x="7132320" y="3374136"/>
            <a:ext cx="4325112" cy="393192"/>
          </a:xfrm>
          <a:prstGeom prst="rect">
            <a:avLst/>
          </a:prstGeom>
          <a:noFill/>
        </p:spPr>
        <p:txBody>
          <a:bodyPr wrap="square" lIns="0" rIns="0" tIns="0" bIns="0">
            <a:spAutoFit/>
          </a:bodyPr>
          <a:lstStyle/>
          <a:p>
            <a:pPr>
              <a:spcAft>
                <a:spcPts val="900"/>
              </a:spcAft>
              <a:defRPr sz="1800" b="0">
                <a:solidFill>
                  <a:srgbClr val="626960"/>
                </a:solidFill>
                <a:latin typeface="Aptos"/>
              </a:defRPr>
            </a:pPr>
            <a:r>
              <a:t>Buy, sell, rent, exchange or give away items.</a:t>
            </a:r>
          </a:p>
        </p:txBody>
      </p:sp>
      <p:sp>
        <p:nvSpPr>
          <p:cNvPr id="16" name="Rounded Rectangle 15"/>
          <p:cNvSpPr/>
          <p:nvPr/>
        </p:nvSpPr>
        <p:spPr>
          <a:xfrm>
            <a:off x="594360" y="4160520"/>
            <a:ext cx="5477256" cy="1353312"/>
          </a:xfrm>
          <a:prstGeom prst="round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4361688"/>
            <a:ext cx="502920" cy="347472"/>
          </a:xfrm>
          <a:prstGeom prst="rect">
            <a:avLst/>
          </a:prstGeom>
          <a:noFill/>
        </p:spPr>
        <p:txBody>
          <a:bodyPr wrap="square" lIns="0" rIns="0" tIns="0" bIns="0">
            <a:spAutoFit/>
          </a:bodyPr>
          <a:lstStyle/>
          <a:p>
            <a:pPr>
              <a:spcAft>
                <a:spcPts val="900"/>
              </a:spcAft>
              <a:defRPr sz="1700" b="1">
                <a:solidFill>
                  <a:srgbClr val="254B3B"/>
                </a:solidFill>
                <a:latin typeface="Aptos"/>
              </a:defRPr>
            </a:pPr>
            <a:r>
              <a:t>03</a:t>
            </a:r>
          </a:p>
        </p:txBody>
      </p:sp>
      <p:sp>
        <p:nvSpPr>
          <p:cNvPr id="18" name="TextBox 17"/>
          <p:cNvSpPr txBox="1"/>
          <p:nvPr/>
        </p:nvSpPr>
        <p:spPr>
          <a:xfrm>
            <a:off x="1463040" y="4325112"/>
            <a:ext cx="4343400" cy="438912"/>
          </a:xfrm>
          <a:prstGeom prst="rect">
            <a:avLst/>
          </a:prstGeom>
          <a:noFill/>
        </p:spPr>
        <p:txBody>
          <a:bodyPr wrap="square" lIns="0" rIns="0" tIns="0" bIns="0">
            <a:spAutoFit/>
          </a:bodyPr>
          <a:lstStyle/>
          <a:p>
            <a:pPr>
              <a:spcAft>
                <a:spcPts val="900"/>
              </a:spcAft>
              <a:defRPr sz="2300" b="1">
                <a:solidFill>
                  <a:srgbClr val="254B3B"/>
                </a:solidFill>
                <a:latin typeface="Aptos"/>
              </a:defRPr>
            </a:pPr>
            <a:r>
              <a:t>Keep clear records</a:t>
            </a:r>
          </a:p>
        </p:txBody>
      </p:sp>
      <p:sp>
        <p:nvSpPr>
          <p:cNvPr id="19" name="TextBox 18"/>
          <p:cNvSpPr txBox="1"/>
          <p:nvPr/>
        </p:nvSpPr>
        <p:spPr>
          <a:xfrm>
            <a:off x="1463040" y="4946904"/>
            <a:ext cx="4325112" cy="393192"/>
          </a:xfrm>
          <a:prstGeom prst="rect">
            <a:avLst/>
          </a:prstGeom>
          <a:noFill/>
        </p:spPr>
        <p:txBody>
          <a:bodyPr wrap="square" lIns="0" rIns="0" tIns="0" bIns="0">
            <a:spAutoFit/>
          </a:bodyPr>
          <a:lstStyle/>
          <a:p>
            <a:pPr>
              <a:spcAft>
                <a:spcPts val="900"/>
              </a:spcAft>
              <a:defRPr sz="1800" b="0">
                <a:solidFill>
                  <a:srgbClr val="626960"/>
                </a:solidFill>
                <a:latin typeface="Aptos"/>
              </a:defRPr>
            </a:pPr>
            <a:r>
              <a:t>Save conversations and completed deals.</a:t>
            </a:r>
          </a:p>
        </p:txBody>
      </p:sp>
      <p:sp>
        <p:nvSpPr>
          <p:cNvPr id="20" name="Rounded Rectangle 19"/>
          <p:cNvSpPr/>
          <p:nvPr/>
        </p:nvSpPr>
        <p:spPr>
          <a:xfrm>
            <a:off x="6263640" y="4160520"/>
            <a:ext cx="5477256" cy="1353312"/>
          </a:xfrm>
          <a:prstGeom prst="round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4808" y="4361688"/>
            <a:ext cx="502920" cy="347472"/>
          </a:xfrm>
          <a:prstGeom prst="rect">
            <a:avLst/>
          </a:prstGeom>
          <a:noFill/>
        </p:spPr>
        <p:txBody>
          <a:bodyPr wrap="square" lIns="0" rIns="0" tIns="0" bIns="0">
            <a:spAutoFit/>
          </a:bodyPr>
          <a:lstStyle/>
          <a:p>
            <a:pPr>
              <a:spcAft>
                <a:spcPts val="900"/>
              </a:spcAft>
              <a:defRPr sz="1700" b="1">
                <a:solidFill>
                  <a:srgbClr val="254B3B"/>
                </a:solidFill>
                <a:latin typeface="Aptos"/>
              </a:defRPr>
            </a:pPr>
            <a:r>
              <a:t>04</a:t>
            </a:r>
          </a:p>
        </p:txBody>
      </p:sp>
      <p:sp>
        <p:nvSpPr>
          <p:cNvPr id="22" name="TextBox 21"/>
          <p:cNvSpPr txBox="1"/>
          <p:nvPr/>
        </p:nvSpPr>
        <p:spPr>
          <a:xfrm>
            <a:off x="7132320" y="4325112"/>
            <a:ext cx="4343400" cy="438912"/>
          </a:xfrm>
          <a:prstGeom prst="rect">
            <a:avLst/>
          </a:prstGeom>
          <a:noFill/>
        </p:spPr>
        <p:txBody>
          <a:bodyPr wrap="square" lIns="0" rIns="0" tIns="0" bIns="0">
            <a:spAutoFit/>
          </a:bodyPr>
          <a:lstStyle/>
          <a:p>
            <a:pPr>
              <a:spcAft>
                <a:spcPts val="900"/>
              </a:spcAft>
              <a:defRPr sz="2300" b="1">
                <a:solidFill>
                  <a:srgbClr val="254B3B"/>
                </a:solidFill>
                <a:latin typeface="Aptos"/>
              </a:defRPr>
            </a:pPr>
            <a:r>
              <a:t>Help administration</a:t>
            </a:r>
          </a:p>
        </p:txBody>
      </p:sp>
      <p:sp>
        <p:nvSpPr>
          <p:cNvPr id="23" name="TextBox 22"/>
          <p:cNvSpPr txBox="1"/>
          <p:nvPr/>
        </p:nvSpPr>
        <p:spPr>
          <a:xfrm>
            <a:off x="7132320" y="4946904"/>
            <a:ext cx="4325112" cy="393192"/>
          </a:xfrm>
          <a:prstGeom prst="rect">
            <a:avLst/>
          </a:prstGeom>
          <a:noFill/>
        </p:spPr>
        <p:txBody>
          <a:bodyPr wrap="square" lIns="0" rIns="0" tIns="0" bIns="0">
            <a:spAutoFit/>
          </a:bodyPr>
          <a:lstStyle/>
          <a:p>
            <a:pPr>
              <a:spcAft>
                <a:spcPts val="900"/>
              </a:spcAft>
              <a:defRPr sz="1800" b="0">
                <a:solidFill>
                  <a:srgbClr val="626960"/>
                </a:solidFill>
                <a:latin typeface="Aptos"/>
              </a:defRPr>
            </a:pPr>
            <a:r>
              <a:t>Manage users, listings and reported issues.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502920" y="347472"/>
            <a:ext cx="10058400" cy="274320"/>
          </a:xfrm>
          <a:prstGeom prst="rect">
            <a:avLst/>
          </a:prstGeom>
          <a:noFill/>
        </p:spPr>
        <p:txBody>
          <a:bodyPr wrap="square" lIns="0" rIns="0" tIns="0" bIns="0">
            <a:spAutoFit/>
          </a:bodyPr>
          <a:lstStyle/>
          <a:p>
            <a:pPr>
              <a:spcAft>
                <a:spcPts val="900"/>
              </a:spcAft>
              <a:defRPr sz="1100" b="1">
                <a:solidFill>
                  <a:srgbClr val="254B3B"/>
                </a:solidFill>
                <a:latin typeface="Aptos"/>
              </a:defRPr>
            </a:pPr>
            <a:r>
              <a:t>03 / MAIN FEATURES &amp; INTERFACE</a:t>
            </a:r>
          </a:p>
        </p:txBody>
      </p:sp>
      <p:sp>
        <p:nvSpPr>
          <p:cNvPr id="3" name="TextBox 2"/>
          <p:cNvSpPr txBox="1"/>
          <p:nvPr/>
        </p:nvSpPr>
        <p:spPr>
          <a:xfrm>
            <a:off x="502920" y="850392"/>
            <a:ext cx="11155680" cy="960120"/>
          </a:xfrm>
          <a:prstGeom prst="rect">
            <a:avLst/>
          </a:prstGeom>
          <a:noFill/>
        </p:spPr>
        <p:txBody>
          <a:bodyPr wrap="square" lIns="0" rIns="0" tIns="0" bIns="0">
            <a:spAutoFit/>
          </a:bodyPr>
          <a:lstStyle/>
          <a:p>
            <a:pPr>
              <a:spcAft>
                <a:spcPts val="900"/>
              </a:spcAft>
              <a:defRPr sz="3400" b="1">
                <a:solidFill>
                  <a:srgbClr val="202721"/>
                </a:solidFill>
                <a:latin typeface="Aptos"/>
              </a:defRPr>
            </a:pPr>
            <a:r>
              <a:t>A simple website for student needs.</a:t>
            </a:r>
          </a:p>
        </p:txBody>
      </p:sp>
      <p:sp>
        <p:nvSpPr>
          <p:cNvPr id="4" name="TextBox 3"/>
          <p:cNvSpPr txBox="1"/>
          <p:nvPr/>
        </p:nvSpPr>
        <p:spPr>
          <a:xfrm>
            <a:off x="530352" y="1773936"/>
            <a:ext cx="11064240" cy="594360"/>
          </a:xfrm>
          <a:prstGeom prst="rect">
            <a:avLst/>
          </a:prstGeom>
          <a:noFill/>
        </p:spPr>
        <p:txBody>
          <a:bodyPr wrap="square" lIns="0" rIns="0" tIns="0" bIns="0">
            <a:spAutoFit/>
          </a:bodyPr>
          <a:lstStyle/>
          <a:p>
            <a:pPr>
              <a:spcAft>
                <a:spcPts val="900"/>
              </a:spcAft>
              <a:defRPr sz="1700" b="0">
                <a:solidFill>
                  <a:srgbClr val="626960"/>
                </a:solidFill>
                <a:latin typeface="Aptos"/>
              </a:defRPr>
            </a:pPr>
            <a:r>
              <a:t>Search items, save favourites, message the owner and track deals in My Loop.</a:t>
            </a:r>
          </a:p>
        </p:txBody>
      </p:sp>
      <p:sp>
        <p:nvSpPr>
          <p:cNvPr id="5" name="Rectangle 4"/>
          <p:cNvSpPr/>
          <p:nvPr/>
        </p:nvSpPr>
        <p:spPr>
          <a:xfrm>
            <a:off x="502920" y="6419088"/>
            <a:ext cx="11183112" cy="13716"/>
          </a:xfrm>
          <a:prstGeom prst="rect">
            <a:avLst/>
          </a:prstGeom>
          <a:solidFill>
            <a:srgbClr val="DA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37960"/>
            <a:ext cx="9144000" cy="164592"/>
          </a:xfrm>
          <a:prstGeom prst="rect">
            <a:avLst/>
          </a:prstGeom>
          <a:noFill/>
        </p:spPr>
        <p:txBody>
          <a:bodyPr wrap="square" lIns="0" rIns="0" tIns="0" bIns="0">
            <a:spAutoFit/>
          </a:bodyPr>
          <a:lstStyle/>
          <a:p>
            <a:pPr>
              <a:spcAft>
                <a:spcPts val="900"/>
              </a:spcAft>
              <a:defRPr sz="900" b="1">
                <a:solidFill>
                  <a:srgbClr val="626960"/>
                </a:solidFill>
                <a:latin typeface="Aptos"/>
              </a:defRPr>
            </a:pPr>
            <a:r>
              <a:t>CAMPUS LOOP  /  COLLEGE PROJECT</a:t>
            </a:r>
          </a:p>
        </p:txBody>
      </p:sp>
      <p:sp>
        <p:nvSpPr>
          <p:cNvPr id="7" name="TextBox 6"/>
          <p:cNvSpPr txBox="1"/>
          <p:nvPr/>
        </p:nvSpPr>
        <p:spPr>
          <a:xfrm>
            <a:off x="11018520" y="6519672"/>
            <a:ext cx="731520" cy="201168"/>
          </a:xfrm>
          <a:prstGeom prst="rect">
            <a:avLst/>
          </a:prstGeom>
          <a:noFill/>
        </p:spPr>
        <p:txBody>
          <a:bodyPr wrap="square" lIns="0" rIns="0" tIns="0" bIns="0">
            <a:spAutoFit/>
          </a:bodyPr>
          <a:lstStyle/>
          <a:p>
            <a:pPr>
              <a:spcAft>
                <a:spcPts val="900"/>
              </a:spcAft>
              <a:defRPr sz="1000" b="1">
                <a:solidFill>
                  <a:srgbClr val="254B3B"/>
                </a:solidFill>
                <a:latin typeface="Aptos"/>
              </a:defRPr>
            </a:pPr>
            <a:r>
              <a:t>04 / 10</a:t>
            </a:r>
          </a:p>
        </p:txBody>
      </p:sp>
      <p:sp>
        <p:nvSpPr>
          <p:cNvPr id="8" name="Rounded Rectangle 7"/>
          <p:cNvSpPr/>
          <p:nvPr/>
        </p:nvSpPr>
        <p:spPr>
          <a:xfrm>
            <a:off x="548640" y="2514600"/>
            <a:ext cx="6492240" cy="3621024"/>
          </a:xfrm>
          <a:prstGeom prst="round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ampus-desktop-crop.png"/>
          <p:cNvPicPr>
            <a:picLocks noChangeAspect="1"/>
          </p:cNvPicPr>
          <p:nvPr/>
        </p:nvPicPr>
        <p:blipFill>
          <a:blip r:embed="rId2"/>
          <a:stretch>
            <a:fillRect/>
          </a:stretch>
        </p:blipFill>
        <p:spPr>
          <a:xfrm>
            <a:off x="667512" y="2615184"/>
            <a:ext cx="4297680" cy="3372485"/>
          </a:xfrm>
          <a:prstGeom prst="rect">
            <a:avLst/>
          </a:prstGeom>
        </p:spPr>
      </p:pic>
      <p:sp>
        <p:nvSpPr>
          <p:cNvPr id="10" name="TextBox 9"/>
          <p:cNvSpPr txBox="1"/>
          <p:nvPr/>
        </p:nvSpPr>
        <p:spPr>
          <a:xfrm>
            <a:off x="5157216" y="2743200"/>
            <a:ext cx="1645920" cy="274320"/>
          </a:xfrm>
          <a:prstGeom prst="rect">
            <a:avLst/>
          </a:prstGeom>
          <a:noFill/>
        </p:spPr>
        <p:txBody>
          <a:bodyPr wrap="square" lIns="0" rIns="0" tIns="0" bIns="0">
            <a:spAutoFit/>
          </a:bodyPr>
          <a:lstStyle/>
          <a:p>
            <a:pPr>
              <a:spcAft>
                <a:spcPts val="900"/>
              </a:spcAft>
              <a:defRPr sz="1100" b="1">
                <a:solidFill>
                  <a:srgbClr val="254B3B"/>
                </a:solidFill>
                <a:latin typeface="Aptos"/>
              </a:defRPr>
            </a:pPr>
            <a:r>
              <a:t>DESKTOP</a:t>
            </a:r>
          </a:p>
        </p:txBody>
      </p:sp>
      <p:sp>
        <p:nvSpPr>
          <p:cNvPr id="11" name="TextBox 10"/>
          <p:cNvSpPr txBox="1"/>
          <p:nvPr/>
        </p:nvSpPr>
        <p:spPr>
          <a:xfrm>
            <a:off x="5157216" y="3246120"/>
            <a:ext cx="1645920" cy="2560320"/>
          </a:xfrm>
          <a:prstGeom prst="rect">
            <a:avLst/>
          </a:prstGeom>
          <a:noFill/>
        </p:spPr>
        <p:txBody>
          <a:bodyPr wrap="square" lIns="0" rIns="0" tIns="0" bIns="0">
            <a:spAutoFit/>
          </a:bodyPr>
          <a:lstStyle/>
          <a:p>
            <a:pPr>
              <a:spcAft>
                <a:spcPts val="900"/>
              </a:spcAft>
              <a:defRPr sz="1800" b="0">
                <a:solidFill>
                  <a:srgbClr val="626960"/>
                </a:solidFill>
                <a:latin typeface="Aptos"/>
              </a:defRPr>
            </a:pPr>
            <a:r>
              <a:t>Search first</a:t>
            </a:r>
          </a:p>
          <a:p>
            <a:pPr>
              <a:spcAft>
                <a:spcPts val="900"/>
              </a:spcAft>
              <a:defRPr sz="1800" b="0">
                <a:solidFill>
                  <a:srgbClr val="626960"/>
                </a:solidFill>
                <a:latin typeface="Aptos"/>
              </a:defRPr>
            </a:pPr>
            <a:r>
              <a:t>Clear prices</a:t>
            </a:r>
          </a:p>
          <a:p>
            <a:pPr>
              <a:spcAft>
                <a:spcPts val="900"/>
              </a:spcAft>
              <a:defRPr sz="1800" b="0">
                <a:solidFill>
                  <a:srgbClr val="626960"/>
                </a:solidFill>
                <a:latin typeface="Aptos"/>
              </a:defRPr>
            </a:pPr>
            <a:r>
              <a:t>Category filters</a:t>
            </a:r>
          </a:p>
          <a:p>
            <a:pPr>
              <a:spcAft>
                <a:spcPts val="900"/>
              </a:spcAft>
              <a:defRPr sz="1800" b="0">
                <a:solidFill>
                  <a:srgbClr val="626960"/>
                </a:solidFill>
                <a:latin typeface="Aptos"/>
              </a:defRPr>
            </a:pPr>
            <a:r>
              <a:t>Real item photos</a:t>
            </a:r>
          </a:p>
        </p:txBody>
      </p:sp>
      <p:pic>
        <p:nvPicPr>
          <p:cNvPr id="12" name="Picture 11" descr="campus-mobile-crop.png"/>
          <p:cNvPicPr>
            <a:picLocks noChangeAspect="1"/>
          </p:cNvPicPr>
          <p:nvPr/>
        </p:nvPicPr>
        <p:blipFill>
          <a:blip r:embed="rId3"/>
          <a:stretch>
            <a:fillRect/>
          </a:stretch>
        </p:blipFill>
        <p:spPr>
          <a:xfrm>
            <a:off x="7360920" y="2505456"/>
            <a:ext cx="1313444" cy="3648456"/>
          </a:xfrm>
          <a:prstGeom prst="rect">
            <a:avLst/>
          </a:prstGeom>
        </p:spPr>
      </p:pic>
      <p:sp>
        <p:nvSpPr>
          <p:cNvPr id="13" name="TextBox 12"/>
          <p:cNvSpPr txBox="1"/>
          <p:nvPr/>
        </p:nvSpPr>
        <p:spPr>
          <a:xfrm>
            <a:off x="8887968" y="2743200"/>
            <a:ext cx="2468880" cy="274320"/>
          </a:xfrm>
          <a:prstGeom prst="rect">
            <a:avLst/>
          </a:prstGeom>
          <a:noFill/>
        </p:spPr>
        <p:txBody>
          <a:bodyPr wrap="square" lIns="0" rIns="0" tIns="0" bIns="0">
            <a:spAutoFit/>
          </a:bodyPr>
          <a:lstStyle/>
          <a:p>
            <a:pPr>
              <a:spcAft>
                <a:spcPts val="900"/>
              </a:spcAft>
              <a:defRPr sz="1100" b="1">
                <a:solidFill>
                  <a:srgbClr val="254B3B"/>
                </a:solidFill>
                <a:latin typeface="Aptos"/>
              </a:defRPr>
            </a:pPr>
            <a:r>
              <a:t>MOBILE</a:t>
            </a:r>
          </a:p>
        </p:txBody>
      </p:sp>
      <p:sp>
        <p:nvSpPr>
          <p:cNvPr id="14" name="TextBox 13"/>
          <p:cNvSpPr txBox="1"/>
          <p:nvPr/>
        </p:nvSpPr>
        <p:spPr>
          <a:xfrm>
            <a:off x="8887968" y="3246120"/>
            <a:ext cx="2606040" cy="2377440"/>
          </a:xfrm>
          <a:prstGeom prst="rect">
            <a:avLst/>
          </a:prstGeom>
          <a:noFill/>
        </p:spPr>
        <p:txBody>
          <a:bodyPr wrap="square" lIns="0" rIns="0" tIns="0" bIns="0">
            <a:spAutoFit/>
          </a:bodyPr>
          <a:lstStyle/>
          <a:p>
            <a:pPr>
              <a:spcAft>
                <a:spcPts val="900"/>
              </a:spcAft>
              <a:defRPr sz="1800" b="0">
                <a:solidFill>
                  <a:srgbClr val="626960"/>
                </a:solidFill>
                <a:latin typeface="Aptos"/>
              </a:defRPr>
            </a:pPr>
            <a:r>
              <a:t>Responsive cards</a:t>
            </a:r>
          </a:p>
          <a:p>
            <a:pPr>
              <a:spcAft>
                <a:spcPts val="900"/>
              </a:spcAft>
              <a:defRPr sz="1800" b="0">
                <a:solidFill>
                  <a:srgbClr val="626960"/>
                </a:solidFill>
                <a:latin typeface="Aptos"/>
              </a:defRPr>
            </a:pPr>
            <a:r>
              <a:t>Compact navigation</a:t>
            </a:r>
          </a:p>
          <a:p>
            <a:pPr>
              <a:spcAft>
                <a:spcPts val="900"/>
              </a:spcAft>
              <a:defRPr sz="1800" b="0">
                <a:solidFill>
                  <a:srgbClr val="626960"/>
                </a:solidFill>
                <a:latin typeface="Aptos"/>
              </a:defRPr>
            </a:pPr>
            <a:r>
              <a:t>Readable forms</a:t>
            </a:r>
          </a:p>
          <a:p>
            <a:pPr>
              <a:spcAft>
                <a:spcPts val="900"/>
              </a:spcAft>
              <a:defRPr sz="1800" b="0">
                <a:solidFill>
                  <a:srgbClr val="626960"/>
                </a:solidFill>
                <a:latin typeface="Aptos"/>
              </a:defRPr>
            </a:pPr>
            <a:r>
              <a:t>Visible feedback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502920" y="347472"/>
            <a:ext cx="10058400" cy="274320"/>
          </a:xfrm>
          <a:prstGeom prst="rect">
            <a:avLst/>
          </a:prstGeom>
          <a:noFill/>
        </p:spPr>
        <p:txBody>
          <a:bodyPr wrap="square" lIns="0" rIns="0" tIns="0" bIns="0">
            <a:spAutoFit/>
          </a:bodyPr>
          <a:lstStyle/>
          <a:p>
            <a:pPr>
              <a:spcAft>
                <a:spcPts val="900"/>
              </a:spcAft>
              <a:defRPr sz="1100" b="1">
                <a:solidFill>
                  <a:srgbClr val="254B3B"/>
                </a:solidFill>
                <a:latin typeface="Aptos"/>
              </a:defRPr>
            </a:pPr>
            <a:r>
              <a:t>04 / WORKING OF THE SYSTEM</a:t>
            </a:r>
          </a:p>
        </p:txBody>
      </p:sp>
      <p:sp>
        <p:nvSpPr>
          <p:cNvPr id="3" name="TextBox 2"/>
          <p:cNvSpPr txBox="1"/>
          <p:nvPr/>
        </p:nvSpPr>
        <p:spPr>
          <a:xfrm>
            <a:off x="502920" y="850392"/>
            <a:ext cx="11155680" cy="960120"/>
          </a:xfrm>
          <a:prstGeom prst="rect">
            <a:avLst/>
          </a:prstGeom>
          <a:noFill/>
        </p:spPr>
        <p:txBody>
          <a:bodyPr wrap="square" lIns="0" rIns="0" tIns="0" bIns="0">
            <a:spAutoFit/>
          </a:bodyPr>
          <a:lstStyle/>
          <a:p>
            <a:pPr>
              <a:spcAft>
                <a:spcPts val="900"/>
              </a:spcAft>
              <a:defRPr sz="3400" b="1">
                <a:solidFill>
                  <a:srgbClr val="202721"/>
                </a:solidFill>
                <a:latin typeface="Aptos"/>
              </a:defRPr>
            </a:pPr>
            <a:r>
              <a:t>How does a student complete a deal?</a:t>
            </a:r>
          </a:p>
        </p:txBody>
      </p:sp>
      <p:sp>
        <p:nvSpPr>
          <p:cNvPr id="4" name="TextBox 3"/>
          <p:cNvSpPr txBox="1"/>
          <p:nvPr/>
        </p:nvSpPr>
        <p:spPr>
          <a:xfrm>
            <a:off x="530352" y="1773936"/>
            <a:ext cx="11064240" cy="594360"/>
          </a:xfrm>
          <a:prstGeom prst="rect">
            <a:avLst/>
          </a:prstGeom>
          <a:noFill/>
        </p:spPr>
        <p:txBody>
          <a:bodyPr wrap="square" lIns="0" rIns="0" tIns="0" bIns="0">
            <a:spAutoFit/>
          </a:bodyPr>
          <a:lstStyle/>
          <a:p>
            <a:pPr>
              <a:spcAft>
                <a:spcPts val="900"/>
              </a:spcAft>
              <a:defRPr sz="1700" b="0">
                <a:solidFill>
                  <a:srgbClr val="626960"/>
                </a:solidFill>
                <a:latin typeface="Aptos"/>
              </a:defRPr>
            </a:pPr>
            <a:r>
              <a:t>Example: one student sells a calculator to another student.</a:t>
            </a:r>
          </a:p>
        </p:txBody>
      </p:sp>
      <p:sp>
        <p:nvSpPr>
          <p:cNvPr id="5" name="Rectangle 4"/>
          <p:cNvSpPr/>
          <p:nvPr/>
        </p:nvSpPr>
        <p:spPr>
          <a:xfrm>
            <a:off x="502920" y="6419088"/>
            <a:ext cx="11183112" cy="13716"/>
          </a:xfrm>
          <a:prstGeom prst="rect">
            <a:avLst/>
          </a:prstGeom>
          <a:solidFill>
            <a:srgbClr val="DA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37960"/>
            <a:ext cx="9144000" cy="164592"/>
          </a:xfrm>
          <a:prstGeom prst="rect">
            <a:avLst/>
          </a:prstGeom>
          <a:noFill/>
        </p:spPr>
        <p:txBody>
          <a:bodyPr wrap="square" lIns="0" rIns="0" tIns="0" bIns="0">
            <a:spAutoFit/>
          </a:bodyPr>
          <a:lstStyle/>
          <a:p>
            <a:pPr>
              <a:spcAft>
                <a:spcPts val="900"/>
              </a:spcAft>
              <a:defRPr sz="900" b="1">
                <a:solidFill>
                  <a:srgbClr val="626960"/>
                </a:solidFill>
                <a:latin typeface="Aptos"/>
              </a:defRPr>
            </a:pPr>
            <a:r>
              <a:t>CAMPUS LOOP  /  COLLEGE PROJECT</a:t>
            </a:r>
          </a:p>
        </p:txBody>
      </p:sp>
      <p:sp>
        <p:nvSpPr>
          <p:cNvPr id="7" name="TextBox 6"/>
          <p:cNvSpPr txBox="1"/>
          <p:nvPr/>
        </p:nvSpPr>
        <p:spPr>
          <a:xfrm>
            <a:off x="11018520" y="6519672"/>
            <a:ext cx="731520" cy="201168"/>
          </a:xfrm>
          <a:prstGeom prst="rect">
            <a:avLst/>
          </a:prstGeom>
          <a:noFill/>
        </p:spPr>
        <p:txBody>
          <a:bodyPr wrap="square" lIns="0" rIns="0" tIns="0" bIns="0">
            <a:spAutoFit/>
          </a:bodyPr>
          <a:lstStyle/>
          <a:p>
            <a:pPr>
              <a:spcAft>
                <a:spcPts val="900"/>
              </a:spcAft>
              <a:defRPr sz="1000" b="1">
                <a:solidFill>
                  <a:srgbClr val="254B3B"/>
                </a:solidFill>
                <a:latin typeface="Aptos"/>
              </a:defRPr>
            </a:pPr>
            <a:r>
              <a:t>05 / 10</a:t>
            </a:r>
          </a:p>
        </p:txBody>
      </p:sp>
      <p:sp>
        <p:nvSpPr>
          <p:cNvPr id="8" name="Rounded Rectangle 7"/>
          <p:cNvSpPr/>
          <p:nvPr/>
        </p:nvSpPr>
        <p:spPr>
          <a:xfrm>
            <a:off x="548640" y="2743200"/>
            <a:ext cx="2084831" cy="2359152"/>
          </a:xfrm>
          <a:prstGeom prst="round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2944368"/>
            <a:ext cx="1645920" cy="274320"/>
          </a:xfrm>
          <a:prstGeom prst="rect">
            <a:avLst/>
          </a:prstGeom>
          <a:noFill/>
        </p:spPr>
        <p:txBody>
          <a:bodyPr wrap="square" lIns="0" rIns="0" tIns="0" bIns="0">
            <a:spAutoFit/>
          </a:bodyPr>
          <a:lstStyle/>
          <a:p>
            <a:pPr>
              <a:spcAft>
                <a:spcPts val="900"/>
              </a:spcAft>
              <a:defRPr sz="1300" b="1">
                <a:solidFill>
                  <a:srgbClr val="254B3B"/>
                </a:solidFill>
                <a:latin typeface="Aptos"/>
              </a:defRPr>
            </a:pPr>
            <a:r>
              <a:t>01</a:t>
            </a:r>
          </a:p>
        </p:txBody>
      </p:sp>
      <p:sp>
        <p:nvSpPr>
          <p:cNvPr id="10" name="TextBox 9"/>
          <p:cNvSpPr txBox="1"/>
          <p:nvPr/>
        </p:nvSpPr>
        <p:spPr>
          <a:xfrm>
            <a:off x="722376" y="3474720"/>
            <a:ext cx="1737360" cy="457200"/>
          </a:xfrm>
          <a:prstGeom prst="rect">
            <a:avLst/>
          </a:prstGeom>
          <a:noFill/>
        </p:spPr>
        <p:txBody>
          <a:bodyPr wrap="square" lIns="0" rIns="0" tIns="0" bIns="0">
            <a:spAutoFit/>
          </a:bodyPr>
          <a:lstStyle/>
          <a:p>
            <a:pPr>
              <a:spcAft>
                <a:spcPts val="900"/>
              </a:spcAft>
              <a:defRPr sz="2400" b="1">
                <a:solidFill>
                  <a:srgbClr val="254B3B"/>
                </a:solidFill>
                <a:latin typeface="Aptos"/>
              </a:defRPr>
            </a:pPr>
            <a:r>
              <a:t>Discover</a:t>
            </a:r>
          </a:p>
        </p:txBody>
      </p:sp>
      <p:sp>
        <p:nvSpPr>
          <p:cNvPr id="11" name="TextBox 10"/>
          <p:cNvSpPr txBox="1"/>
          <p:nvPr/>
        </p:nvSpPr>
        <p:spPr>
          <a:xfrm>
            <a:off x="722376" y="4142232"/>
            <a:ext cx="1773936" cy="758952"/>
          </a:xfrm>
          <a:prstGeom prst="rect">
            <a:avLst/>
          </a:prstGeom>
          <a:noFill/>
        </p:spPr>
        <p:txBody>
          <a:bodyPr wrap="square" lIns="0" rIns="0" tIns="0" bIns="0">
            <a:spAutoFit/>
          </a:bodyPr>
          <a:lstStyle/>
          <a:p>
            <a:pPr>
              <a:spcAft>
                <a:spcPts val="900"/>
              </a:spcAft>
              <a:defRPr sz="1600" b="0">
                <a:solidFill>
                  <a:srgbClr val="626960"/>
                </a:solidFill>
                <a:latin typeface="Aptos"/>
              </a:defRPr>
            </a:pPr>
            <a:r>
              <a:t>Search and filter</a:t>
            </a:r>
          </a:p>
          <a:p>
            <a:pPr>
              <a:spcAft>
                <a:spcPts val="900"/>
              </a:spcAft>
              <a:defRPr sz="1600" b="0">
                <a:solidFill>
                  <a:srgbClr val="626960"/>
                </a:solidFill>
                <a:latin typeface="Aptos"/>
              </a:defRPr>
            </a:pPr>
            <a:r>
              <a:t>relevant listings</a:t>
            </a:r>
          </a:p>
        </p:txBody>
      </p:sp>
      <p:sp>
        <p:nvSpPr>
          <p:cNvPr id="12" name="TextBox 11"/>
          <p:cNvSpPr txBox="1"/>
          <p:nvPr/>
        </p:nvSpPr>
        <p:spPr>
          <a:xfrm>
            <a:off x="2651760" y="3639312"/>
            <a:ext cx="182880" cy="365760"/>
          </a:xfrm>
          <a:prstGeom prst="rect">
            <a:avLst/>
          </a:prstGeom>
          <a:noFill/>
        </p:spPr>
        <p:txBody>
          <a:bodyPr wrap="square" lIns="0" rIns="0" tIns="0" bIns="0">
            <a:spAutoFit/>
          </a:bodyPr>
          <a:lstStyle/>
          <a:p>
            <a:pPr>
              <a:spcAft>
                <a:spcPts val="900"/>
              </a:spcAft>
              <a:defRPr sz="1800" b="1">
                <a:solidFill>
                  <a:srgbClr val="254B3B"/>
                </a:solidFill>
                <a:latin typeface="Aptos"/>
              </a:defRPr>
            </a:pPr>
            <a:r>
              <a:t>→</a:t>
            </a:r>
          </a:p>
        </p:txBody>
      </p:sp>
      <p:sp>
        <p:nvSpPr>
          <p:cNvPr id="13" name="Rounded Rectangle 12"/>
          <p:cNvSpPr/>
          <p:nvPr/>
        </p:nvSpPr>
        <p:spPr>
          <a:xfrm>
            <a:off x="2825496" y="2743200"/>
            <a:ext cx="2084831" cy="2359152"/>
          </a:xfrm>
          <a:prstGeom prst="round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99232" y="2944368"/>
            <a:ext cx="1645920" cy="274320"/>
          </a:xfrm>
          <a:prstGeom prst="rect">
            <a:avLst/>
          </a:prstGeom>
          <a:noFill/>
        </p:spPr>
        <p:txBody>
          <a:bodyPr wrap="square" lIns="0" rIns="0" tIns="0" bIns="0">
            <a:spAutoFit/>
          </a:bodyPr>
          <a:lstStyle/>
          <a:p>
            <a:pPr>
              <a:spcAft>
                <a:spcPts val="900"/>
              </a:spcAft>
              <a:defRPr sz="1300" b="1">
                <a:solidFill>
                  <a:srgbClr val="254B3B"/>
                </a:solidFill>
                <a:latin typeface="Aptos"/>
              </a:defRPr>
            </a:pPr>
            <a:r>
              <a:t>02</a:t>
            </a:r>
          </a:p>
        </p:txBody>
      </p:sp>
      <p:sp>
        <p:nvSpPr>
          <p:cNvPr id="15" name="TextBox 14"/>
          <p:cNvSpPr txBox="1"/>
          <p:nvPr/>
        </p:nvSpPr>
        <p:spPr>
          <a:xfrm>
            <a:off x="2999232" y="3474720"/>
            <a:ext cx="1737360" cy="457200"/>
          </a:xfrm>
          <a:prstGeom prst="rect">
            <a:avLst/>
          </a:prstGeom>
          <a:noFill/>
        </p:spPr>
        <p:txBody>
          <a:bodyPr wrap="square" lIns="0" rIns="0" tIns="0" bIns="0">
            <a:spAutoFit/>
          </a:bodyPr>
          <a:lstStyle/>
          <a:p>
            <a:pPr>
              <a:spcAft>
                <a:spcPts val="900"/>
              </a:spcAft>
              <a:defRPr sz="2400" b="1">
                <a:solidFill>
                  <a:srgbClr val="254B3B"/>
                </a:solidFill>
                <a:latin typeface="Aptos"/>
              </a:defRPr>
            </a:pPr>
            <a:r>
              <a:t>Discuss</a:t>
            </a:r>
          </a:p>
        </p:txBody>
      </p:sp>
      <p:sp>
        <p:nvSpPr>
          <p:cNvPr id="16" name="TextBox 15"/>
          <p:cNvSpPr txBox="1"/>
          <p:nvPr/>
        </p:nvSpPr>
        <p:spPr>
          <a:xfrm>
            <a:off x="2999232" y="4142232"/>
            <a:ext cx="1773936" cy="758952"/>
          </a:xfrm>
          <a:prstGeom prst="rect">
            <a:avLst/>
          </a:prstGeom>
          <a:noFill/>
        </p:spPr>
        <p:txBody>
          <a:bodyPr wrap="square" lIns="0" rIns="0" tIns="0" bIns="0">
            <a:spAutoFit/>
          </a:bodyPr>
          <a:lstStyle/>
          <a:p>
            <a:pPr>
              <a:spcAft>
                <a:spcPts val="900"/>
              </a:spcAft>
              <a:defRPr sz="1600" b="0">
                <a:solidFill>
                  <a:srgbClr val="626960"/>
                </a:solidFill>
                <a:latin typeface="Aptos"/>
              </a:defRPr>
            </a:pPr>
            <a:r>
              <a:t>Use private chat</a:t>
            </a:r>
          </a:p>
          <a:p>
            <a:pPr>
              <a:spcAft>
                <a:spcPts val="900"/>
              </a:spcAft>
              <a:defRPr sz="1600" b="0">
                <a:solidFill>
                  <a:srgbClr val="626960"/>
                </a:solidFill>
                <a:latin typeface="Aptos"/>
              </a:defRPr>
            </a:pPr>
            <a:r>
              <a:t>to agree details</a:t>
            </a:r>
          </a:p>
        </p:txBody>
      </p:sp>
      <p:sp>
        <p:nvSpPr>
          <p:cNvPr id="17" name="TextBox 16"/>
          <p:cNvSpPr txBox="1"/>
          <p:nvPr/>
        </p:nvSpPr>
        <p:spPr>
          <a:xfrm>
            <a:off x="4928616" y="3639312"/>
            <a:ext cx="182880" cy="365760"/>
          </a:xfrm>
          <a:prstGeom prst="rect">
            <a:avLst/>
          </a:prstGeom>
          <a:noFill/>
        </p:spPr>
        <p:txBody>
          <a:bodyPr wrap="square" lIns="0" rIns="0" tIns="0" bIns="0">
            <a:spAutoFit/>
          </a:bodyPr>
          <a:lstStyle/>
          <a:p>
            <a:pPr>
              <a:spcAft>
                <a:spcPts val="900"/>
              </a:spcAft>
              <a:defRPr sz="1800" b="1">
                <a:solidFill>
                  <a:srgbClr val="254B3B"/>
                </a:solidFill>
                <a:latin typeface="Aptos"/>
              </a:defRPr>
            </a:pPr>
            <a:r>
              <a:t>→</a:t>
            </a:r>
          </a:p>
        </p:txBody>
      </p:sp>
      <p:sp>
        <p:nvSpPr>
          <p:cNvPr id="18" name="Rounded Rectangle 17"/>
          <p:cNvSpPr/>
          <p:nvPr/>
        </p:nvSpPr>
        <p:spPr>
          <a:xfrm>
            <a:off x="5102352" y="2743200"/>
            <a:ext cx="2084831" cy="2359152"/>
          </a:xfrm>
          <a:prstGeom prst="round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76088" y="2944368"/>
            <a:ext cx="1645920" cy="274320"/>
          </a:xfrm>
          <a:prstGeom prst="rect">
            <a:avLst/>
          </a:prstGeom>
          <a:noFill/>
        </p:spPr>
        <p:txBody>
          <a:bodyPr wrap="square" lIns="0" rIns="0" tIns="0" bIns="0">
            <a:spAutoFit/>
          </a:bodyPr>
          <a:lstStyle/>
          <a:p>
            <a:pPr>
              <a:spcAft>
                <a:spcPts val="900"/>
              </a:spcAft>
              <a:defRPr sz="1300" b="1">
                <a:solidFill>
                  <a:srgbClr val="254B3B"/>
                </a:solidFill>
                <a:latin typeface="Aptos"/>
              </a:defRPr>
            </a:pPr>
            <a:r>
              <a:t>03</a:t>
            </a:r>
          </a:p>
        </p:txBody>
      </p:sp>
      <p:sp>
        <p:nvSpPr>
          <p:cNvPr id="20" name="TextBox 19"/>
          <p:cNvSpPr txBox="1"/>
          <p:nvPr/>
        </p:nvSpPr>
        <p:spPr>
          <a:xfrm>
            <a:off x="5276088" y="3474720"/>
            <a:ext cx="1737360" cy="457200"/>
          </a:xfrm>
          <a:prstGeom prst="rect">
            <a:avLst/>
          </a:prstGeom>
          <a:noFill/>
        </p:spPr>
        <p:txBody>
          <a:bodyPr wrap="square" lIns="0" rIns="0" tIns="0" bIns="0">
            <a:spAutoFit/>
          </a:bodyPr>
          <a:lstStyle/>
          <a:p>
            <a:pPr>
              <a:spcAft>
                <a:spcPts val="900"/>
              </a:spcAft>
              <a:defRPr sz="2400" b="1">
                <a:solidFill>
                  <a:srgbClr val="254B3B"/>
                </a:solidFill>
                <a:latin typeface="Aptos"/>
              </a:defRPr>
            </a:pPr>
            <a:r>
              <a:t>Request</a:t>
            </a:r>
          </a:p>
        </p:txBody>
      </p:sp>
      <p:sp>
        <p:nvSpPr>
          <p:cNvPr id="21" name="TextBox 20"/>
          <p:cNvSpPr txBox="1"/>
          <p:nvPr/>
        </p:nvSpPr>
        <p:spPr>
          <a:xfrm>
            <a:off x="5276088" y="4142232"/>
            <a:ext cx="1773936" cy="758952"/>
          </a:xfrm>
          <a:prstGeom prst="rect">
            <a:avLst/>
          </a:prstGeom>
          <a:noFill/>
        </p:spPr>
        <p:txBody>
          <a:bodyPr wrap="square" lIns="0" rIns="0" tIns="0" bIns="0">
            <a:spAutoFit/>
          </a:bodyPr>
          <a:lstStyle/>
          <a:p>
            <a:pPr>
              <a:spcAft>
                <a:spcPts val="900"/>
              </a:spcAft>
              <a:defRPr sz="1600" b="0">
                <a:solidFill>
                  <a:srgbClr val="626960"/>
                </a:solidFill>
                <a:latin typeface="Aptos"/>
              </a:defRPr>
            </a:pPr>
            <a:r>
              <a:t>Seller requests</a:t>
            </a:r>
          </a:p>
          <a:p>
            <a:pPr>
              <a:spcAft>
                <a:spcPts val="900"/>
              </a:spcAft>
              <a:defRPr sz="1600" b="0">
                <a:solidFill>
                  <a:srgbClr val="626960"/>
                </a:solidFill>
                <a:latin typeface="Aptos"/>
              </a:defRPr>
            </a:pPr>
            <a:r>
              <a:t>handoff confirmation</a:t>
            </a:r>
          </a:p>
        </p:txBody>
      </p:sp>
      <p:sp>
        <p:nvSpPr>
          <p:cNvPr id="22" name="TextBox 21"/>
          <p:cNvSpPr txBox="1"/>
          <p:nvPr/>
        </p:nvSpPr>
        <p:spPr>
          <a:xfrm>
            <a:off x="7205472" y="3639312"/>
            <a:ext cx="182880" cy="365760"/>
          </a:xfrm>
          <a:prstGeom prst="rect">
            <a:avLst/>
          </a:prstGeom>
          <a:noFill/>
        </p:spPr>
        <p:txBody>
          <a:bodyPr wrap="square" lIns="0" rIns="0" tIns="0" bIns="0">
            <a:spAutoFit/>
          </a:bodyPr>
          <a:lstStyle/>
          <a:p>
            <a:pPr>
              <a:spcAft>
                <a:spcPts val="900"/>
              </a:spcAft>
              <a:defRPr sz="1800" b="1">
                <a:solidFill>
                  <a:srgbClr val="254B3B"/>
                </a:solidFill>
                <a:latin typeface="Aptos"/>
              </a:defRPr>
            </a:pPr>
            <a:r>
              <a:t>→</a:t>
            </a:r>
          </a:p>
        </p:txBody>
      </p:sp>
      <p:sp>
        <p:nvSpPr>
          <p:cNvPr id="23" name="Rounded Rectangle 22"/>
          <p:cNvSpPr/>
          <p:nvPr/>
        </p:nvSpPr>
        <p:spPr>
          <a:xfrm>
            <a:off x="7379208" y="2743200"/>
            <a:ext cx="2084831" cy="2359152"/>
          </a:xfrm>
          <a:prstGeom prst="round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52944" y="2944368"/>
            <a:ext cx="1645920" cy="274320"/>
          </a:xfrm>
          <a:prstGeom prst="rect">
            <a:avLst/>
          </a:prstGeom>
          <a:noFill/>
        </p:spPr>
        <p:txBody>
          <a:bodyPr wrap="square" lIns="0" rIns="0" tIns="0" bIns="0">
            <a:spAutoFit/>
          </a:bodyPr>
          <a:lstStyle/>
          <a:p>
            <a:pPr>
              <a:spcAft>
                <a:spcPts val="900"/>
              </a:spcAft>
              <a:defRPr sz="1300" b="1">
                <a:solidFill>
                  <a:srgbClr val="254B3B"/>
                </a:solidFill>
                <a:latin typeface="Aptos"/>
              </a:defRPr>
            </a:pPr>
            <a:r>
              <a:t>04</a:t>
            </a:r>
          </a:p>
        </p:txBody>
      </p:sp>
      <p:sp>
        <p:nvSpPr>
          <p:cNvPr id="25" name="TextBox 24"/>
          <p:cNvSpPr txBox="1"/>
          <p:nvPr/>
        </p:nvSpPr>
        <p:spPr>
          <a:xfrm>
            <a:off x="7552944" y="3474720"/>
            <a:ext cx="1737360" cy="457200"/>
          </a:xfrm>
          <a:prstGeom prst="rect">
            <a:avLst/>
          </a:prstGeom>
          <a:noFill/>
        </p:spPr>
        <p:txBody>
          <a:bodyPr wrap="square" lIns="0" rIns="0" tIns="0" bIns="0">
            <a:spAutoFit/>
          </a:bodyPr>
          <a:lstStyle/>
          <a:p>
            <a:pPr>
              <a:spcAft>
                <a:spcPts val="900"/>
              </a:spcAft>
              <a:defRPr sz="2400" b="1">
                <a:solidFill>
                  <a:srgbClr val="254B3B"/>
                </a:solidFill>
                <a:latin typeface="Aptos"/>
              </a:defRPr>
            </a:pPr>
            <a:r>
              <a:t>Confirm</a:t>
            </a:r>
          </a:p>
        </p:txBody>
      </p:sp>
      <p:sp>
        <p:nvSpPr>
          <p:cNvPr id="26" name="TextBox 25"/>
          <p:cNvSpPr txBox="1"/>
          <p:nvPr/>
        </p:nvSpPr>
        <p:spPr>
          <a:xfrm>
            <a:off x="7552944" y="4142232"/>
            <a:ext cx="1773936" cy="758952"/>
          </a:xfrm>
          <a:prstGeom prst="rect">
            <a:avLst/>
          </a:prstGeom>
          <a:noFill/>
        </p:spPr>
        <p:txBody>
          <a:bodyPr wrap="square" lIns="0" rIns="0" tIns="0" bIns="0">
            <a:spAutoFit/>
          </a:bodyPr>
          <a:lstStyle/>
          <a:p>
            <a:pPr>
              <a:spcAft>
                <a:spcPts val="900"/>
              </a:spcAft>
              <a:defRPr sz="1600" b="0">
                <a:solidFill>
                  <a:srgbClr val="626960"/>
                </a:solidFill>
                <a:latin typeface="Aptos"/>
              </a:defRPr>
            </a:pPr>
            <a:r>
              <a:t>Buyer confirms</a:t>
            </a:r>
          </a:p>
          <a:p>
            <a:pPr>
              <a:spcAft>
                <a:spcPts val="900"/>
              </a:spcAft>
              <a:defRPr sz="1600" b="0">
                <a:solidFill>
                  <a:srgbClr val="626960"/>
                </a:solidFill>
                <a:latin typeface="Aptos"/>
              </a:defRPr>
            </a:pPr>
            <a:r>
              <a:t>after receiving item</a:t>
            </a:r>
          </a:p>
        </p:txBody>
      </p:sp>
      <p:sp>
        <p:nvSpPr>
          <p:cNvPr id="27" name="TextBox 26"/>
          <p:cNvSpPr txBox="1"/>
          <p:nvPr/>
        </p:nvSpPr>
        <p:spPr>
          <a:xfrm>
            <a:off x="9482328" y="3639312"/>
            <a:ext cx="182880" cy="365760"/>
          </a:xfrm>
          <a:prstGeom prst="rect">
            <a:avLst/>
          </a:prstGeom>
          <a:noFill/>
        </p:spPr>
        <p:txBody>
          <a:bodyPr wrap="square" lIns="0" rIns="0" tIns="0" bIns="0">
            <a:spAutoFit/>
          </a:bodyPr>
          <a:lstStyle/>
          <a:p>
            <a:pPr>
              <a:spcAft>
                <a:spcPts val="900"/>
              </a:spcAft>
              <a:defRPr sz="1800" b="1">
                <a:solidFill>
                  <a:srgbClr val="254B3B"/>
                </a:solidFill>
                <a:latin typeface="Aptos"/>
              </a:defRPr>
            </a:pPr>
            <a:r>
              <a:t>→</a:t>
            </a:r>
          </a:p>
        </p:txBody>
      </p:sp>
      <p:sp>
        <p:nvSpPr>
          <p:cNvPr id="28" name="Rounded Rectangle 27"/>
          <p:cNvSpPr/>
          <p:nvPr/>
        </p:nvSpPr>
        <p:spPr>
          <a:xfrm>
            <a:off x="9656064" y="2743200"/>
            <a:ext cx="2084831" cy="2359152"/>
          </a:xfrm>
          <a:prstGeom prst="round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29800" y="2944368"/>
            <a:ext cx="1645920" cy="274320"/>
          </a:xfrm>
          <a:prstGeom prst="rect">
            <a:avLst/>
          </a:prstGeom>
          <a:noFill/>
        </p:spPr>
        <p:txBody>
          <a:bodyPr wrap="square" lIns="0" rIns="0" tIns="0" bIns="0">
            <a:spAutoFit/>
          </a:bodyPr>
          <a:lstStyle/>
          <a:p>
            <a:pPr>
              <a:spcAft>
                <a:spcPts val="900"/>
              </a:spcAft>
              <a:defRPr sz="1300" b="1">
                <a:solidFill>
                  <a:srgbClr val="254B3B"/>
                </a:solidFill>
                <a:latin typeface="Aptos"/>
              </a:defRPr>
            </a:pPr>
            <a:r>
              <a:t>05</a:t>
            </a:r>
          </a:p>
        </p:txBody>
      </p:sp>
      <p:sp>
        <p:nvSpPr>
          <p:cNvPr id="30" name="TextBox 29"/>
          <p:cNvSpPr txBox="1"/>
          <p:nvPr/>
        </p:nvSpPr>
        <p:spPr>
          <a:xfrm>
            <a:off x="9829800" y="3474720"/>
            <a:ext cx="1737360" cy="457200"/>
          </a:xfrm>
          <a:prstGeom prst="rect">
            <a:avLst/>
          </a:prstGeom>
          <a:noFill/>
        </p:spPr>
        <p:txBody>
          <a:bodyPr wrap="square" lIns="0" rIns="0" tIns="0" bIns="0">
            <a:spAutoFit/>
          </a:bodyPr>
          <a:lstStyle/>
          <a:p>
            <a:pPr>
              <a:spcAft>
                <a:spcPts val="900"/>
              </a:spcAft>
              <a:defRPr sz="2400" b="1">
                <a:solidFill>
                  <a:srgbClr val="254B3B"/>
                </a:solidFill>
                <a:latin typeface="Aptos"/>
              </a:defRPr>
            </a:pPr>
            <a:r>
              <a:t>Record</a:t>
            </a:r>
          </a:p>
        </p:txBody>
      </p:sp>
      <p:sp>
        <p:nvSpPr>
          <p:cNvPr id="31" name="TextBox 30"/>
          <p:cNvSpPr txBox="1"/>
          <p:nvPr/>
        </p:nvSpPr>
        <p:spPr>
          <a:xfrm>
            <a:off x="9829800" y="4142232"/>
            <a:ext cx="1773936" cy="758952"/>
          </a:xfrm>
          <a:prstGeom prst="rect">
            <a:avLst/>
          </a:prstGeom>
          <a:noFill/>
        </p:spPr>
        <p:txBody>
          <a:bodyPr wrap="square" lIns="0" rIns="0" tIns="0" bIns="0">
            <a:spAutoFit/>
          </a:bodyPr>
          <a:lstStyle/>
          <a:p>
            <a:pPr>
              <a:spcAft>
                <a:spcPts val="900"/>
              </a:spcAft>
              <a:defRPr sz="1600" b="0">
                <a:solidFill>
                  <a:srgbClr val="626960"/>
                </a:solidFill>
                <a:latin typeface="Aptos"/>
              </a:defRPr>
            </a:pPr>
            <a:r>
              <a:t>Completed deal</a:t>
            </a:r>
          </a:p>
          <a:p>
            <a:pPr>
              <a:spcAft>
                <a:spcPts val="900"/>
              </a:spcAft>
              <a:defRPr sz="1600" b="0">
                <a:solidFill>
                  <a:srgbClr val="626960"/>
                </a:solidFill>
                <a:latin typeface="Aptos"/>
              </a:defRPr>
            </a:pPr>
            <a:r>
              <a:t>appears in My Loop</a:t>
            </a:r>
          </a:p>
        </p:txBody>
      </p:sp>
      <p:sp>
        <p:nvSpPr>
          <p:cNvPr id="32" name="Rounded Rectangle 31"/>
          <p:cNvSpPr/>
          <p:nvPr/>
        </p:nvSpPr>
        <p:spPr>
          <a:xfrm>
            <a:off x="594360" y="5458968"/>
            <a:ext cx="10991088" cy="530352"/>
          </a:xfrm>
          <a:prstGeom prst="roundRect">
            <a:avLst/>
          </a:prstGeom>
          <a:solidFill>
            <a:srgbClr val="254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5577840"/>
            <a:ext cx="10515600" cy="274320"/>
          </a:xfrm>
          <a:prstGeom prst="rect">
            <a:avLst/>
          </a:prstGeom>
          <a:noFill/>
        </p:spPr>
        <p:txBody>
          <a:bodyPr wrap="square" lIns="0" rIns="0" tIns="0" bIns="0">
            <a:spAutoFit/>
          </a:bodyPr>
          <a:lstStyle/>
          <a:p>
            <a:pPr>
              <a:spcAft>
                <a:spcPts val="900"/>
              </a:spcAft>
              <a:defRPr sz="1700" b="0">
                <a:solidFill>
                  <a:srgbClr val="FFFDF8"/>
                </a:solidFill>
                <a:latin typeface="Aptos"/>
              </a:defRPr>
            </a:pPr>
            <a:r>
              <a:t>The seller starts the request. The buyer confirms receipt. Both can view the completed deal.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502920" y="347472"/>
            <a:ext cx="10058400" cy="274320"/>
          </a:xfrm>
          <a:prstGeom prst="rect">
            <a:avLst/>
          </a:prstGeom>
          <a:noFill/>
        </p:spPr>
        <p:txBody>
          <a:bodyPr wrap="square" lIns="0" rIns="0" tIns="0" bIns="0">
            <a:spAutoFit/>
          </a:bodyPr>
          <a:lstStyle/>
          <a:p>
            <a:pPr>
              <a:spcAft>
                <a:spcPts val="900"/>
              </a:spcAft>
              <a:defRPr sz="1100" b="1">
                <a:solidFill>
                  <a:srgbClr val="254B3B"/>
                </a:solidFill>
                <a:latin typeface="Aptos"/>
              </a:defRPr>
            </a:pPr>
            <a:r>
              <a:t>05 / SYSTEM DESIGN</a:t>
            </a:r>
          </a:p>
        </p:txBody>
      </p:sp>
      <p:sp>
        <p:nvSpPr>
          <p:cNvPr id="3" name="TextBox 2"/>
          <p:cNvSpPr txBox="1"/>
          <p:nvPr/>
        </p:nvSpPr>
        <p:spPr>
          <a:xfrm>
            <a:off x="502920" y="850392"/>
            <a:ext cx="11155680" cy="960120"/>
          </a:xfrm>
          <a:prstGeom prst="rect">
            <a:avLst/>
          </a:prstGeom>
          <a:noFill/>
        </p:spPr>
        <p:txBody>
          <a:bodyPr wrap="square" lIns="0" rIns="0" tIns="0" bIns="0">
            <a:spAutoFit/>
          </a:bodyPr>
          <a:lstStyle/>
          <a:p>
            <a:pPr>
              <a:spcAft>
                <a:spcPts val="900"/>
              </a:spcAft>
              <a:defRPr sz="3400" b="1">
                <a:solidFill>
                  <a:srgbClr val="202721"/>
                </a:solidFill>
                <a:latin typeface="Aptos"/>
              </a:defRPr>
            </a:pPr>
            <a:r>
              <a:t>How is the website built?</a:t>
            </a:r>
          </a:p>
        </p:txBody>
      </p:sp>
      <p:sp>
        <p:nvSpPr>
          <p:cNvPr id="4" name="TextBox 3"/>
          <p:cNvSpPr txBox="1"/>
          <p:nvPr/>
        </p:nvSpPr>
        <p:spPr>
          <a:xfrm>
            <a:off x="530352" y="1773936"/>
            <a:ext cx="11064240" cy="594360"/>
          </a:xfrm>
          <a:prstGeom prst="rect">
            <a:avLst/>
          </a:prstGeom>
          <a:noFill/>
        </p:spPr>
        <p:txBody>
          <a:bodyPr wrap="square" lIns="0" rIns="0" tIns="0" bIns="0">
            <a:spAutoFit/>
          </a:bodyPr>
          <a:lstStyle/>
          <a:p>
            <a:pPr>
              <a:spcAft>
                <a:spcPts val="900"/>
              </a:spcAft>
              <a:defRPr sz="1700" b="0">
                <a:solidFill>
                  <a:srgbClr val="626960"/>
                </a:solidFill>
                <a:latin typeface="Aptos"/>
              </a:defRPr>
            </a:pPr>
            <a:r>
              <a:t>Three main parts work together to display pages and save information.</a:t>
            </a:r>
          </a:p>
        </p:txBody>
      </p:sp>
      <p:sp>
        <p:nvSpPr>
          <p:cNvPr id="5" name="Rectangle 4"/>
          <p:cNvSpPr/>
          <p:nvPr/>
        </p:nvSpPr>
        <p:spPr>
          <a:xfrm>
            <a:off x="502920" y="6419088"/>
            <a:ext cx="11183112" cy="13716"/>
          </a:xfrm>
          <a:prstGeom prst="rect">
            <a:avLst/>
          </a:prstGeom>
          <a:solidFill>
            <a:srgbClr val="DA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37960"/>
            <a:ext cx="9144000" cy="164592"/>
          </a:xfrm>
          <a:prstGeom prst="rect">
            <a:avLst/>
          </a:prstGeom>
          <a:noFill/>
        </p:spPr>
        <p:txBody>
          <a:bodyPr wrap="square" lIns="0" rIns="0" tIns="0" bIns="0">
            <a:spAutoFit/>
          </a:bodyPr>
          <a:lstStyle/>
          <a:p>
            <a:pPr>
              <a:spcAft>
                <a:spcPts val="900"/>
              </a:spcAft>
              <a:defRPr sz="900" b="1">
                <a:solidFill>
                  <a:srgbClr val="626960"/>
                </a:solidFill>
                <a:latin typeface="Aptos"/>
              </a:defRPr>
            </a:pPr>
            <a:r>
              <a:t>CAMPUS LOOP  /  COLLEGE PROJECT</a:t>
            </a:r>
          </a:p>
        </p:txBody>
      </p:sp>
      <p:sp>
        <p:nvSpPr>
          <p:cNvPr id="7" name="TextBox 6"/>
          <p:cNvSpPr txBox="1"/>
          <p:nvPr/>
        </p:nvSpPr>
        <p:spPr>
          <a:xfrm>
            <a:off x="11018520" y="6519672"/>
            <a:ext cx="731520" cy="201168"/>
          </a:xfrm>
          <a:prstGeom prst="rect">
            <a:avLst/>
          </a:prstGeom>
          <a:noFill/>
        </p:spPr>
        <p:txBody>
          <a:bodyPr wrap="square" lIns="0" rIns="0" tIns="0" bIns="0">
            <a:spAutoFit/>
          </a:bodyPr>
          <a:lstStyle/>
          <a:p>
            <a:pPr>
              <a:spcAft>
                <a:spcPts val="900"/>
              </a:spcAft>
              <a:defRPr sz="1000" b="1">
                <a:solidFill>
                  <a:srgbClr val="254B3B"/>
                </a:solidFill>
                <a:latin typeface="Aptos"/>
              </a:defRPr>
            </a:pPr>
            <a:r>
              <a:t>06 / 10</a:t>
            </a:r>
          </a:p>
        </p:txBody>
      </p:sp>
      <p:sp>
        <p:nvSpPr>
          <p:cNvPr id="8" name="Rounded Rectangle 7"/>
          <p:cNvSpPr/>
          <p:nvPr/>
        </p:nvSpPr>
        <p:spPr>
          <a:xfrm>
            <a:off x="594360" y="2660904"/>
            <a:ext cx="3383280" cy="2331720"/>
          </a:xfrm>
          <a:prstGeom prst="round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880360"/>
            <a:ext cx="2971800" cy="438912"/>
          </a:xfrm>
          <a:prstGeom prst="rect">
            <a:avLst/>
          </a:prstGeom>
          <a:noFill/>
        </p:spPr>
        <p:txBody>
          <a:bodyPr wrap="square" lIns="0" rIns="0" tIns="0" bIns="0">
            <a:spAutoFit/>
          </a:bodyPr>
          <a:lstStyle/>
          <a:p>
            <a:pPr>
              <a:spcAft>
                <a:spcPts val="900"/>
              </a:spcAft>
              <a:defRPr sz="2300" b="1">
                <a:solidFill>
                  <a:srgbClr val="254B3B"/>
                </a:solidFill>
                <a:latin typeface="Aptos"/>
              </a:defRPr>
            </a:pPr>
            <a:r>
              <a:t>1. Website pages</a:t>
            </a:r>
          </a:p>
        </p:txBody>
      </p:sp>
      <p:sp>
        <p:nvSpPr>
          <p:cNvPr id="10" name="TextBox 9"/>
          <p:cNvSpPr txBox="1"/>
          <p:nvPr/>
        </p:nvSpPr>
        <p:spPr>
          <a:xfrm>
            <a:off x="795528" y="3602736"/>
            <a:ext cx="2971800" cy="804672"/>
          </a:xfrm>
          <a:prstGeom prst="rect">
            <a:avLst/>
          </a:prstGeom>
          <a:noFill/>
        </p:spPr>
        <p:txBody>
          <a:bodyPr wrap="square" lIns="0" rIns="0" tIns="0" bIns="0">
            <a:spAutoFit/>
          </a:bodyPr>
          <a:lstStyle/>
          <a:p>
            <a:pPr>
              <a:spcAft>
                <a:spcPts val="900"/>
              </a:spcAft>
              <a:defRPr sz="1900" b="0">
                <a:solidFill>
                  <a:srgbClr val="626960"/>
                </a:solidFill>
                <a:latin typeface="Aptos"/>
              </a:defRPr>
            </a:pPr>
            <a:r>
              <a:t>Students browse items,</a:t>
            </a:r>
          </a:p>
          <a:p>
            <a:pPr>
              <a:spcAft>
                <a:spcPts val="900"/>
              </a:spcAft>
              <a:defRPr sz="1900" b="0">
                <a:solidFill>
                  <a:srgbClr val="626960"/>
                </a:solidFill>
                <a:latin typeface="Aptos"/>
              </a:defRPr>
            </a:pPr>
            <a:r>
              <a:t>fill forms and send messages.</a:t>
            </a:r>
          </a:p>
        </p:txBody>
      </p:sp>
      <p:sp>
        <p:nvSpPr>
          <p:cNvPr id="11" name="TextBox 10"/>
          <p:cNvSpPr txBox="1"/>
          <p:nvPr/>
        </p:nvSpPr>
        <p:spPr>
          <a:xfrm>
            <a:off x="795528" y="4590288"/>
            <a:ext cx="2971800" cy="256032"/>
          </a:xfrm>
          <a:prstGeom prst="rect">
            <a:avLst/>
          </a:prstGeom>
          <a:noFill/>
        </p:spPr>
        <p:txBody>
          <a:bodyPr wrap="square" lIns="0" rIns="0" tIns="0" bIns="0">
            <a:spAutoFit/>
          </a:bodyPr>
          <a:lstStyle/>
          <a:p>
            <a:pPr>
              <a:spcAft>
                <a:spcPts val="900"/>
              </a:spcAft>
              <a:defRPr sz="1300" b="1">
                <a:solidFill>
                  <a:srgbClr val="254B3B"/>
                </a:solidFill>
                <a:latin typeface="Aptos"/>
              </a:defRPr>
            </a:pPr>
            <a:r>
              <a:t>Next.js • React • Tailwind CSS</a:t>
            </a:r>
          </a:p>
        </p:txBody>
      </p:sp>
      <p:sp>
        <p:nvSpPr>
          <p:cNvPr id="12" name="Rounded Rectangle 11"/>
          <p:cNvSpPr/>
          <p:nvPr/>
        </p:nvSpPr>
        <p:spPr>
          <a:xfrm>
            <a:off x="4407408" y="2660904"/>
            <a:ext cx="3383280" cy="2331720"/>
          </a:xfrm>
          <a:prstGeom prst="round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880360"/>
            <a:ext cx="2971800" cy="438912"/>
          </a:xfrm>
          <a:prstGeom prst="rect">
            <a:avLst/>
          </a:prstGeom>
          <a:noFill/>
        </p:spPr>
        <p:txBody>
          <a:bodyPr wrap="square" lIns="0" rIns="0" tIns="0" bIns="0">
            <a:spAutoFit/>
          </a:bodyPr>
          <a:lstStyle/>
          <a:p>
            <a:pPr>
              <a:spcAft>
                <a:spcPts val="900"/>
              </a:spcAft>
              <a:defRPr sz="2300" b="1">
                <a:solidFill>
                  <a:srgbClr val="254B3B"/>
                </a:solidFill>
                <a:latin typeface="Aptos"/>
              </a:defRPr>
            </a:pPr>
            <a:r>
              <a:t>2. Application logic</a:t>
            </a:r>
          </a:p>
        </p:txBody>
      </p:sp>
      <p:sp>
        <p:nvSpPr>
          <p:cNvPr id="14" name="TextBox 13"/>
          <p:cNvSpPr txBox="1"/>
          <p:nvPr/>
        </p:nvSpPr>
        <p:spPr>
          <a:xfrm>
            <a:off x="4608576" y="3602736"/>
            <a:ext cx="2971800" cy="804672"/>
          </a:xfrm>
          <a:prstGeom prst="rect">
            <a:avLst/>
          </a:prstGeom>
          <a:noFill/>
        </p:spPr>
        <p:txBody>
          <a:bodyPr wrap="square" lIns="0" rIns="0" tIns="0" bIns="0">
            <a:spAutoFit/>
          </a:bodyPr>
          <a:lstStyle/>
          <a:p>
            <a:pPr>
              <a:spcAft>
                <a:spcPts val="900"/>
              </a:spcAft>
              <a:defRPr sz="1900" b="0">
                <a:solidFill>
                  <a:srgbClr val="626960"/>
                </a:solidFill>
                <a:latin typeface="Aptos"/>
              </a:defRPr>
            </a:pPr>
            <a:r>
              <a:t>Checks sign-in, permissions</a:t>
            </a:r>
          </a:p>
          <a:p>
            <a:pPr>
              <a:spcAft>
                <a:spcPts val="900"/>
              </a:spcAft>
              <a:defRPr sz="1900" b="0">
                <a:solidFill>
                  <a:srgbClr val="626960"/>
                </a:solidFill>
                <a:latin typeface="Aptos"/>
              </a:defRPr>
            </a:pPr>
            <a:r>
              <a:t>and deal confirmation.</a:t>
            </a:r>
          </a:p>
        </p:txBody>
      </p:sp>
      <p:sp>
        <p:nvSpPr>
          <p:cNvPr id="15" name="TextBox 14"/>
          <p:cNvSpPr txBox="1"/>
          <p:nvPr/>
        </p:nvSpPr>
        <p:spPr>
          <a:xfrm>
            <a:off x="4608576" y="4590288"/>
            <a:ext cx="2971800" cy="256032"/>
          </a:xfrm>
          <a:prstGeom prst="rect">
            <a:avLst/>
          </a:prstGeom>
          <a:noFill/>
        </p:spPr>
        <p:txBody>
          <a:bodyPr wrap="square" lIns="0" rIns="0" tIns="0" bIns="0">
            <a:spAutoFit/>
          </a:bodyPr>
          <a:lstStyle/>
          <a:p>
            <a:pPr>
              <a:spcAft>
                <a:spcPts val="900"/>
              </a:spcAft>
              <a:defRPr sz="1300" b="1">
                <a:solidFill>
                  <a:srgbClr val="254B3B"/>
                </a:solidFill>
                <a:latin typeface="Aptos"/>
              </a:defRPr>
            </a:pPr>
            <a:r>
              <a:t>Next.js server • TypeScript</a:t>
            </a:r>
          </a:p>
        </p:txBody>
      </p:sp>
      <p:sp>
        <p:nvSpPr>
          <p:cNvPr id="16" name="Rounded Rectangle 15"/>
          <p:cNvSpPr/>
          <p:nvPr/>
        </p:nvSpPr>
        <p:spPr>
          <a:xfrm>
            <a:off x="8220456" y="2660904"/>
            <a:ext cx="3383280" cy="2331720"/>
          </a:xfrm>
          <a:prstGeom prst="round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21624" y="2880360"/>
            <a:ext cx="2971800" cy="438912"/>
          </a:xfrm>
          <a:prstGeom prst="rect">
            <a:avLst/>
          </a:prstGeom>
          <a:noFill/>
        </p:spPr>
        <p:txBody>
          <a:bodyPr wrap="square" lIns="0" rIns="0" tIns="0" bIns="0">
            <a:spAutoFit/>
          </a:bodyPr>
          <a:lstStyle/>
          <a:p>
            <a:pPr>
              <a:spcAft>
                <a:spcPts val="900"/>
              </a:spcAft>
              <a:defRPr sz="2300" b="1">
                <a:solidFill>
                  <a:srgbClr val="254B3B"/>
                </a:solidFill>
                <a:latin typeface="Aptos"/>
              </a:defRPr>
            </a:pPr>
            <a:r>
              <a:t>3. Database</a:t>
            </a:r>
          </a:p>
        </p:txBody>
      </p:sp>
      <p:sp>
        <p:nvSpPr>
          <p:cNvPr id="18" name="TextBox 17"/>
          <p:cNvSpPr txBox="1"/>
          <p:nvPr/>
        </p:nvSpPr>
        <p:spPr>
          <a:xfrm>
            <a:off x="8421624" y="3602736"/>
            <a:ext cx="2971800" cy="804672"/>
          </a:xfrm>
          <a:prstGeom prst="rect">
            <a:avLst/>
          </a:prstGeom>
          <a:noFill/>
        </p:spPr>
        <p:txBody>
          <a:bodyPr wrap="square" lIns="0" rIns="0" tIns="0" bIns="0">
            <a:spAutoFit/>
          </a:bodyPr>
          <a:lstStyle/>
          <a:p>
            <a:pPr>
              <a:spcAft>
                <a:spcPts val="900"/>
              </a:spcAft>
              <a:defRPr sz="1900" b="0">
                <a:solidFill>
                  <a:srgbClr val="626960"/>
                </a:solidFill>
                <a:latin typeface="Aptos"/>
              </a:defRPr>
            </a:pPr>
            <a:r>
              <a:t>Stores accounts, items,</a:t>
            </a:r>
          </a:p>
          <a:p>
            <a:pPr>
              <a:spcAft>
                <a:spcPts val="900"/>
              </a:spcAft>
              <a:defRPr sz="1900" b="0">
                <a:solidFill>
                  <a:srgbClr val="626960"/>
                </a:solidFill>
                <a:latin typeface="Aptos"/>
              </a:defRPr>
            </a:pPr>
            <a:r>
              <a:t>messages and deal records.</a:t>
            </a:r>
          </a:p>
        </p:txBody>
      </p:sp>
      <p:sp>
        <p:nvSpPr>
          <p:cNvPr id="19" name="TextBox 18"/>
          <p:cNvSpPr txBox="1"/>
          <p:nvPr/>
        </p:nvSpPr>
        <p:spPr>
          <a:xfrm>
            <a:off x="8421624" y="4590288"/>
            <a:ext cx="2971800" cy="256032"/>
          </a:xfrm>
          <a:prstGeom prst="rect">
            <a:avLst/>
          </a:prstGeom>
          <a:noFill/>
        </p:spPr>
        <p:txBody>
          <a:bodyPr wrap="square" lIns="0" rIns="0" tIns="0" bIns="0">
            <a:spAutoFit/>
          </a:bodyPr>
          <a:lstStyle/>
          <a:p>
            <a:pPr>
              <a:spcAft>
                <a:spcPts val="900"/>
              </a:spcAft>
              <a:defRPr sz="1300" b="1">
                <a:solidFill>
                  <a:srgbClr val="254B3B"/>
                </a:solidFill>
                <a:latin typeface="Aptos"/>
              </a:defRPr>
            </a:pPr>
            <a:r>
              <a:t>PostgreSQL • Prisma</a:t>
            </a:r>
          </a:p>
        </p:txBody>
      </p:sp>
      <p:sp>
        <p:nvSpPr>
          <p:cNvPr id="20" name="TextBox 19"/>
          <p:cNvSpPr txBox="1"/>
          <p:nvPr/>
        </p:nvSpPr>
        <p:spPr>
          <a:xfrm>
            <a:off x="4014215" y="3584448"/>
            <a:ext cx="365760" cy="365760"/>
          </a:xfrm>
          <a:prstGeom prst="rect">
            <a:avLst/>
          </a:prstGeom>
          <a:noFill/>
        </p:spPr>
        <p:txBody>
          <a:bodyPr wrap="square" lIns="0" rIns="0" tIns="0" bIns="0">
            <a:spAutoFit/>
          </a:bodyPr>
          <a:lstStyle/>
          <a:p>
            <a:pPr>
              <a:spcAft>
                <a:spcPts val="900"/>
              </a:spcAft>
              <a:defRPr sz="2300" b="1">
                <a:solidFill>
                  <a:srgbClr val="254B3B"/>
                </a:solidFill>
                <a:latin typeface="Aptos"/>
              </a:defRPr>
            </a:pPr>
            <a:r>
              <a:t>↔</a:t>
            </a:r>
          </a:p>
        </p:txBody>
      </p:sp>
      <p:sp>
        <p:nvSpPr>
          <p:cNvPr id="21" name="TextBox 20"/>
          <p:cNvSpPr txBox="1"/>
          <p:nvPr/>
        </p:nvSpPr>
        <p:spPr>
          <a:xfrm>
            <a:off x="7827264" y="3584448"/>
            <a:ext cx="365760" cy="365760"/>
          </a:xfrm>
          <a:prstGeom prst="rect">
            <a:avLst/>
          </a:prstGeom>
          <a:noFill/>
        </p:spPr>
        <p:txBody>
          <a:bodyPr wrap="square" lIns="0" rIns="0" tIns="0" bIns="0">
            <a:spAutoFit/>
          </a:bodyPr>
          <a:lstStyle/>
          <a:p>
            <a:pPr>
              <a:spcAft>
                <a:spcPts val="900"/>
              </a:spcAft>
              <a:defRPr sz="2300" b="1">
                <a:solidFill>
                  <a:srgbClr val="254B3B"/>
                </a:solidFill>
                <a:latin typeface="Aptos"/>
              </a:defRPr>
            </a:pPr>
            <a:r>
              <a:t>↔</a:t>
            </a:r>
          </a:p>
        </p:txBody>
      </p:sp>
      <p:sp>
        <p:nvSpPr>
          <p:cNvPr id="22" name="Rounded Rectangle 21"/>
          <p:cNvSpPr/>
          <p:nvPr/>
        </p:nvSpPr>
        <p:spPr>
          <a:xfrm>
            <a:off x="594360" y="5340096"/>
            <a:ext cx="11009376" cy="658368"/>
          </a:xfrm>
          <a:prstGeom prst="roundRect">
            <a:avLst/>
          </a:prstGeom>
          <a:solidFill>
            <a:srgbClr val="254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532120"/>
            <a:ext cx="10561320" cy="320040"/>
          </a:xfrm>
          <a:prstGeom prst="rect">
            <a:avLst/>
          </a:prstGeom>
          <a:noFill/>
        </p:spPr>
        <p:txBody>
          <a:bodyPr wrap="square" lIns="0" rIns="0" tIns="0" bIns="0">
            <a:spAutoFit/>
          </a:bodyPr>
          <a:lstStyle/>
          <a:p>
            <a:pPr>
              <a:spcAft>
                <a:spcPts val="900"/>
              </a:spcAft>
              <a:defRPr sz="1800" b="0">
                <a:solidFill>
                  <a:srgbClr val="FFFDF8"/>
                </a:solidFill>
                <a:latin typeface="Aptos"/>
              </a:defRPr>
            </a:pPr>
            <a:r>
              <a:t>Extra services: Auth.js for login  •  Cloudinary for photos  •  Resend for email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502920" y="347472"/>
            <a:ext cx="10058400" cy="274320"/>
          </a:xfrm>
          <a:prstGeom prst="rect">
            <a:avLst/>
          </a:prstGeom>
          <a:noFill/>
        </p:spPr>
        <p:txBody>
          <a:bodyPr wrap="square" lIns="0" rIns="0" tIns="0" bIns="0">
            <a:spAutoFit/>
          </a:bodyPr>
          <a:lstStyle/>
          <a:p>
            <a:pPr>
              <a:spcAft>
                <a:spcPts val="900"/>
              </a:spcAft>
              <a:defRPr sz="1100" b="1">
                <a:solidFill>
                  <a:srgbClr val="254B3B"/>
                </a:solidFill>
                <a:latin typeface="Aptos"/>
              </a:defRPr>
            </a:pPr>
            <a:r>
              <a:t>06 / DATABASE &amp; MAINTENANCE</a:t>
            </a:r>
          </a:p>
        </p:txBody>
      </p:sp>
      <p:sp>
        <p:nvSpPr>
          <p:cNvPr id="3" name="TextBox 2"/>
          <p:cNvSpPr txBox="1"/>
          <p:nvPr/>
        </p:nvSpPr>
        <p:spPr>
          <a:xfrm>
            <a:off x="502920" y="850392"/>
            <a:ext cx="11155680" cy="960120"/>
          </a:xfrm>
          <a:prstGeom prst="rect">
            <a:avLst/>
          </a:prstGeom>
          <a:noFill/>
        </p:spPr>
        <p:txBody>
          <a:bodyPr wrap="square" lIns="0" rIns="0" tIns="0" bIns="0">
            <a:spAutoFit/>
          </a:bodyPr>
          <a:lstStyle/>
          <a:p>
            <a:pPr>
              <a:spcAft>
                <a:spcPts val="900"/>
              </a:spcAft>
              <a:defRPr sz="3400" b="1">
                <a:solidFill>
                  <a:srgbClr val="202721"/>
                </a:solidFill>
                <a:latin typeface="Aptos"/>
              </a:defRPr>
            </a:pPr>
            <a:r>
              <a:t>What information do we save?</a:t>
            </a:r>
          </a:p>
        </p:txBody>
      </p:sp>
      <p:sp>
        <p:nvSpPr>
          <p:cNvPr id="4" name="TextBox 3"/>
          <p:cNvSpPr txBox="1"/>
          <p:nvPr/>
        </p:nvSpPr>
        <p:spPr>
          <a:xfrm>
            <a:off x="530352" y="1773936"/>
            <a:ext cx="11064240" cy="594360"/>
          </a:xfrm>
          <a:prstGeom prst="rect">
            <a:avLst/>
          </a:prstGeom>
          <a:noFill/>
        </p:spPr>
        <p:txBody>
          <a:bodyPr wrap="square" lIns="0" rIns="0" tIns="0" bIns="0">
            <a:spAutoFit/>
          </a:bodyPr>
          <a:lstStyle/>
          <a:p>
            <a:pPr>
              <a:spcAft>
                <a:spcPts val="900"/>
              </a:spcAft>
              <a:defRPr sz="1700" b="0">
                <a:solidFill>
                  <a:srgbClr val="626960"/>
                </a:solidFill>
                <a:latin typeface="Aptos"/>
              </a:defRPr>
            </a:pPr>
            <a:r>
              <a:t>The database keeps records available after a student closes the website.</a:t>
            </a:r>
          </a:p>
        </p:txBody>
      </p:sp>
      <p:sp>
        <p:nvSpPr>
          <p:cNvPr id="5" name="Rectangle 4"/>
          <p:cNvSpPr/>
          <p:nvPr/>
        </p:nvSpPr>
        <p:spPr>
          <a:xfrm>
            <a:off x="502920" y="6419088"/>
            <a:ext cx="11183112" cy="13716"/>
          </a:xfrm>
          <a:prstGeom prst="rect">
            <a:avLst/>
          </a:prstGeom>
          <a:solidFill>
            <a:srgbClr val="DA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37960"/>
            <a:ext cx="9144000" cy="164592"/>
          </a:xfrm>
          <a:prstGeom prst="rect">
            <a:avLst/>
          </a:prstGeom>
          <a:noFill/>
        </p:spPr>
        <p:txBody>
          <a:bodyPr wrap="square" lIns="0" rIns="0" tIns="0" bIns="0">
            <a:spAutoFit/>
          </a:bodyPr>
          <a:lstStyle/>
          <a:p>
            <a:pPr>
              <a:spcAft>
                <a:spcPts val="900"/>
              </a:spcAft>
              <a:defRPr sz="900" b="1">
                <a:solidFill>
                  <a:srgbClr val="626960"/>
                </a:solidFill>
                <a:latin typeface="Aptos"/>
              </a:defRPr>
            </a:pPr>
            <a:r>
              <a:t>CAMPUS LOOP  /  COLLEGE PROJECT</a:t>
            </a:r>
          </a:p>
        </p:txBody>
      </p:sp>
      <p:sp>
        <p:nvSpPr>
          <p:cNvPr id="7" name="TextBox 6"/>
          <p:cNvSpPr txBox="1"/>
          <p:nvPr/>
        </p:nvSpPr>
        <p:spPr>
          <a:xfrm>
            <a:off x="11018520" y="6519672"/>
            <a:ext cx="731520" cy="201168"/>
          </a:xfrm>
          <a:prstGeom prst="rect">
            <a:avLst/>
          </a:prstGeom>
          <a:noFill/>
        </p:spPr>
        <p:txBody>
          <a:bodyPr wrap="square" lIns="0" rIns="0" tIns="0" bIns="0">
            <a:spAutoFit/>
          </a:bodyPr>
          <a:lstStyle/>
          <a:p>
            <a:pPr>
              <a:spcAft>
                <a:spcPts val="900"/>
              </a:spcAft>
              <a:defRPr sz="1000" b="1">
                <a:solidFill>
                  <a:srgbClr val="254B3B"/>
                </a:solidFill>
                <a:latin typeface="Aptos"/>
              </a:defRPr>
            </a:pPr>
            <a:r>
              <a:t>07 / 10</a:t>
            </a:r>
          </a:p>
        </p:txBody>
      </p:sp>
      <p:sp>
        <p:nvSpPr>
          <p:cNvPr id="8" name="Rectangle 7"/>
          <p:cNvSpPr/>
          <p:nvPr/>
        </p:nvSpPr>
        <p:spPr>
          <a:xfrm>
            <a:off x="594360" y="2587752"/>
            <a:ext cx="6419088" cy="502920"/>
          </a:xfrm>
          <a:prstGeom prst="rect">
            <a:avLst/>
          </a:prstGeom>
          <a:solidFill>
            <a:srgbClr val="254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724912"/>
            <a:ext cx="1828800" cy="228600"/>
          </a:xfrm>
          <a:prstGeom prst="rect">
            <a:avLst/>
          </a:prstGeom>
          <a:noFill/>
        </p:spPr>
        <p:txBody>
          <a:bodyPr wrap="square" lIns="0" rIns="0" tIns="0" bIns="0">
            <a:spAutoFit/>
          </a:bodyPr>
          <a:lstStyle/>
          <a:p>
            <a:pPr>
              <a:spcAft>
                <a:spcPts val="900"/>
              </a:spcAft>
              <a:defRPr sz="1300" b="1">
                <a:solidFill>
                  <a:srgbClr val="FFFDF8"/>
                </a:solidFill>
                <a:latin typeface="Aptos"/>
              </a:defRPr>
            </a:pPr>
            <a:r>
              <a:t>RECORD</a:t>
            </a:r>
          </a:p>
        </p:txBody>
      </p:sp>
      <p:sp>
        <p:nvSpPr>
          <p:cNvPr id="10" name="TextBox 9"/>
          <p:cNvSpPr txBox="1"/>
          <p:nvPr/>
        </p:nvSpPr>
        <p:spPr>
          <a:xfrm>
            <a:off x="2862072" y="2724912"/>
            <a:ext cx="3749039" cy="228600"/>
          </a:xfrm>
          <a:prstGeom prst="rect">
            <a:avLst/>
          </a:prstGeom>
          <a:noFill/>
        </p:spPr>
        <p:txBody>
          <a:bodyPr wrap="square" lIns="0" rIns="0" tIns="0" bIns="0">
            <a:spAutoFit/>
          </a:bodyPr>
          <a:lstStyle/>
          <a:p>
            <a:pPr>
              <a:spcAft>
                <a:spcPts val="900"/>
              </a:spcAft>
              <a:defRPr sz="1300" b="1">
                <a:solidFill>
                  <a:srgbClr val="FFFDF8"/>
                </a:solidFill>
                <a:latin typeface="Aptos"/>
              </a:defRPr>
            </a:pPr>
            <a:r>
              <a:t>INFORMATION STORED</a:t>
            </a:r>
          </a:p>
        </p:txBody>
      </p:sp>
      <p:sp>
        <p:nvSpPr>
          <p:cNvPr id="11" name="Rectangle 10"/>
          <p:cNvSpPr/>
          <p:nvPr/>
        </p:nvSpPr>
        <p:spPr>
          <a:xfrm>
            <a:off x="594360" y="3099816"/>
            <a:ext cx="6419088" cy="612648"/>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273552"/>
            <a:ext cx="1920240" cy="292608"/>
          </a:xfrm>
          <a:prstGeom prst="rect">
            <a:avLst/>
          </a:prstGeom>
          <a:noFill/>
        </p:spPr>
        <p:txBody>
          <a:bodyPr wrap="square" lIns="0" rIns="0" tIns="0" bIns="0">
            <a:spAutoFit/>
          </a:bodyPr>
          <a:lstStyle/>
          <a:p>
            <a:pPr>
              <a:spcAft>
                <a:spcPts val="900"/>
              </a:spcAft>
              <a:defRPr sz="1900" b="1">
                <a:solidFill>
                  <a:srgbClr val="254B3B"/>
                </a:solidFill>
                <a:latin typeface="Aptos"/>
              </a:defRPr>
            </a:pPr>
            <a:r>
              <a:t>Students</a:t>
            </a:r>
          </a:p>
        </p:txBody>
      </p:sp>
      <p:sp>
        <p:nvSpPr>
          <p:cNvPr id="13" name="TextBox 12"/>
          <p:cNvSpPr txBox="1"/>
          <p:nvPr/>
        </p:nvSpPr>
        <p:spPr>
          <a:xfrm>
            <a:off x="2862072" y="3273552"/>
            <a:ext cx="3913632" cy="329184"/>
          </a:xfrm>
          <a:prstGeom prst="rect">
            <a:avLst/>
          </a:prstGeom>
          <a:noFill/>
        </p:spPr>
        <p:txBody>
          <a:bodyPr wrap="square" lIns="0" rIns="0" tIns="0" bIns="0">
            <a:spAutoFit/>
          </a:bodyPr>
          <a:lstStyle/>
          <a:p>
            <a:pPr>
              <a:spcAft>
                <a:spcPts val="900"/>
              </a:spcAft>
              <a:defRPr sz="1700" b="0">
                <a:solidFill>
                  <a:srgbClr val="202721"/>
                </a:solidFill>
                <a:latin typeface="Aptos"/>
              </a:defRPr>
            </a:pPr>
            <a:r>
              <a:t>Name, email and account role</a:t>
            </a:r>
          </a:p>
        </p:txBody>
      </p:sp>
      <p:sp>
        <p:nvSpPr>
          <p:cNvPr id="14" name="Rectangle 13"/>
          <p:cNvSpPr/>
          <p:nvPr/>
        </p:nvSpPr>
        <p:spPr>
          <a:xfrm>
            <a:off x="594360" y="3730752"/>
            <a:ext cx="6419088" cy="612648"/>
          </a:xfrm>
          <a:prstGeom prst="rect">
            <a:avLst/>
          </a:prstGeom>
          <a:solidFill>
            <a:srgbClr val="EAED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904488"/>
            <a:ext cx="1920240" cy="292608"/>
          </a:xfrm>
          <a:prstGeom prst="rect">
            <a:avLst/>
          </a:prstGeom>
          <a:noFill/>
        </p:spPr>
        <p:txBody>
          <a:bodyPr wrap="square" lIns="0" rIns="0" tIns="0" bIns="0">
            <a:spAutoFit/>
          </a:bodyPr>
          <a:lstStyle/>
          <a:p>
            <a:pPr>
              <a:spcAft>
                <a:spcPts val="900"/>
              </a:spcAft>
              <a:defRPr sz="1900" b="1">
                <a:solidFill>
                  <a:srgbClr val="254B3B"/>
                </a:solidFill>
                <a:latin typeface="Aptos"/>
              </a:defRPr>
            </a:pPr>
            <a:r>
              <a:t>Items</a:t>
            </a:r>
          </a:p>
        </p:txBody>
      </p:sp>
      <p:sp>
        <p:nvSpPr>
          <p:cNvPr id="16" name="TextBox 15"/>
          <p:cNvSpPr txBox="1"/>
          <p:nvPr/>
        </p:nvSpPr>
        <p:spPr>
          <a:xfrm>
            <a:off x="2862072" y="3904488"/>
            <a:ext cx="3913632" cy="329184"/>
          </a:xfrm>
          <a:prstGeom prst="rect">
            <a:avLst/>
          </a:prstGeom>
          <a:noFill/>
        </p:spPr>
        <p:txBody>
          <a:bodyPr wrap="square" lIns="0" rIns="0" tIns="0" bIns="0">
            <a:spAutoFit/>
          </a:bodyPr>
          <a:lstStyle/>
          <a:p>
            <a:pPr>
              <a:spcAft>
                <a:spcPts val="900"/>
              </a:spcAft>
              <a:defRPr sz="1700" b="0">
                <a:solidFill>
                  <a:srgbClr val="202721"/>
                </a:solidFill>
                <a:latin typeface="Aptos"/>
              </a:defRPr>
            </a:pPr>
            <a:r>
              <a:t>Owner, title, price and availability</a:t>
            </a:r>
          </a:p>
        </p:txBody>
      </p:sp>
      <p:sp>
        <p:nvSpPr>
          <p:cNvPr id="17" name="Rectangle 16"/>
          <p:cNvSpPr/>
          <p:nvPr/>
        </p:nvSpPr>
        <p:spPr>
          <a:xfrm>
            <a:off x="594360" y="4361688"/>
            <a:ext cx="6419088" cy="612648"/>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535424"/>
            <a:ext cx="1920240" cy="292608"/>
          </a:xfrm>
          <a:prstGeom prst="rect">
            <a:avLst/>
          </a:prstGeom>
          <a:noFill/>
        </p:spPr>
        <p:txBody>
          <a:bodyPr wrap="square" lIns="0" rIns="0" tIns="0" bIns="0">
            <a:spAutoFit/>
          </a:bodyPr>
          <a:lstStyle/>
          <a:p>
            <a:pPr>
              <a:spcAft>
                <a:spcPts val="900"/>
              </a:spcAft>
              <a:defRPr sz="1900" b="1">
                <a:solidFill>
                  <a:srgbClr val="254B3B"/>
                </a:solidFill>
                <a:latin typeface="Aptos"/>
              </a:defRPr>
            </a:pPr>
            <a:r>
              <a:t>Messages</a:t>
            </a:r>
          </a:p>
        </p:txBody>
      </p:sp>
      <p:sp>
        <p:nvSpPr>
          <p:cNvPr id="19" name="TextBox 18"/>
          <p:cNvSpPr txBox="1"/>
          <p:nvPr/>
        </p:nvSpPr>
        <p:spPr>
          <a:xfrm>
            <a:off x="2862072" y="4535424"/>
            <a:ext cx="3913632" cy="329184"/>
          </a:xfrm>
          <a:prstGeom prst="rect">
            <a:avLst/>
          </a:prstGeom>
          <a:noFill/>
        </p:spPr>
        <p:txBody>
          <a:bodyPr wrap="square" lIns="0" rIns="0" tIns="0" bIns="0">
            <a:spAutoFit/>
          </a:bodyPr>
          <a:lstStyle/>
          <a:p>
            <a:pPr>
              <a:spcAft>
                <a:spcPts val="900"/>
              </a:spcAft>
              <a:defRPr sz="1700" b="0">
                <a:solidFill>
                  <a:srgbClr val="202721"/>
                </a:solidFill>
                <a:latin typeface="Aptos"/>
              </a:defRPr>
            </a:pPr>
            <a:r>
              <a:t>Conversation, sender and message</a:t>
            </a:r>
          </a:p>
        </p:txBody>
      </p:sp>
      <p:sp>
        <p:nvSpPr>
          <p:cNvPr id="20" name="Rectangle 19"/>
          <p:cNvSpPr/>
          <p:nvPr/>
        </p:nvSpPr>
        <p:spPr>
          <a:xfrm>
            <a:off x="594360" y="4992624"/>
            <a:ext cx="6419088" cy="612648"/>
          </a:xfrm>
          <a:prstGeom prst="rect">
            <a:avLst/>
          </a:prstGeom>
          <a:solidFill>
            <a:srgbClr val="EAED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166360"/>
            <a:ext cx="1920240" cy="292608"/>
          </a:xfrm>
          <a:prstGeom prst="rect">
            <a:avLst/>
          </a:prstGeom>
          <a:noFill/>
        </p:spPr>
        <p:txBody>
          <a:bodyPr wrap="square" lIns="0" rIns="0" tIns="0" bIns="0">
            <a:spAutoFit/>
          </a:bodyPr>
          <a:lstStyle/>
          <a:p>
            <a:pPr>
              <a:spcAft>
                <a:spcPts val="900"/>
              </a:spcAft>
              <a:defRPr sz="1900" b="1">
                <a:solidFill>
                  <a:srgbClr val="254B3B"/>
                </a:solidFill>
                <a:latin typeface="Aptos"/>
              </a:defRPr>
            </a:pPr>
            <a:r>
              <a:t>Deals</a:t>
            </a:r>
          </a:p>
        </p:txBody>
      </p:sp>
      <p:sp>
        <p:nvSpPr>
          <p:cNvPr id="22" name="TextBox 21"/>
          <p:cNvSpPr txBox="1"/>
          <p:nvPr/>
        </p:nvSpPr>
        <p:spPr>
          <a:xfrm>
            <a:off x="2862072" y="5166360"/>
            <a:ext cx="3913632" cy="329184"/>
          </a:xfrm>
          <a:prstGeom prst="rect">
            <a:avLst/>
          </a:prstGeom>
          <a:noFill/>
        </p:spPr>
        <p:txBody>
          <a:bodyPr wrap="square" lIns="0" rIns="0" tIns="0" bIns="0">
            <a:spAutoFit/>
          </a:bodyPr>
          <a:lstStyle/>
          <a:p>
            <a:pPr>
              <a:spcAft>
                <a:spcPts val="900"/>
              </a:spcAft>
              <a:defRPr sz="1700" b="0">
                <a:solidFill>
                  <a:srgbClr val="202721"/>
                </a:solidFill>
                <a:latin typeface="Aptos"/>
              </a:defRPr>
            </a:pPr>
            <a:r>
              <a:t>Buyer, seller, item and deal status</a:t>
            </a:r>
          </a:p>
        </p:txBody>
      </p:sp>
      <p:sp>
        <p:nvSpPr>
          <p:cNvPr id="23" name="Rounded Rectangle 22"/>
          <p:cNvSpPr/>
          <p:nvPr/>
        </p:nvSpPr>
        <p:spPr>
          <a:xfrm>
            <a:off x="7324344" y="2587752"/>
            <a:ext cx="4261104" cy="3035808"/>
          </a:xfrm>
          <a:prstGeom prst="round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52944" y="2807208"/>
            <a:ext cx="3785615" cy="438912"/>
          </a:xfrm>
          <a:prstGeom prst="rect">
            <a:avLst/>
          </a:prstGeom>
          <a:noFill/>
        </p:spPr>
        <p:txBody>
          <a:bodyPr wrap="square" lIns="0" rIns="0" tIns="0" bIns="0">
            <a:spAutoFit/>
          </a:bodyPr>
          <a:lstStyle/>
          <a:p>
            <a:pPr>
              <a:spcAft>
                <a:spcPts val="900"/>
              </a:spcAft>
              <a:defRPr sz="2400" b="1">
                <a:solidFill>
                  <a:srgbClr val="254B3B"/>
                </a:solidFill>
                <a:latin typeface="Aptos"/>
              </a:defRPr>
            </a:pPr>
            <a:r>
              <a:t>How we maintain it</a:t>
            </a:r>
          </a:p>
        </p:txBody>
      </p:sp>
      <p:sp>
        <p:nvSpPr>
          <p:cNvPr id="25" name="TextBox 24"/>
          <p:cNvSpPr txBox="1"/>
          <p:nvPr/>
        </p:nvSpPr>
        <p:spPr>
          <a:xfrm>
            <a:off x="7552944" y="3584448"/>
            <a:ext cx="3739896" cy="1828800"/>
          </a:xfrm>
          <a:prstGeom prst="rect">
            <a:avLst/>
          </a:prstGeom>
          <a:noFill/>
        </p:spPr>
        <p:txBody>
          <a:bodyPr wrap="square" lIns="0" rIns="0" tIns="0" bIns="0">
            <a:spAutoFit/>
          </a:bodyPr>
          <a:lstStyle/>
          <a:p>
            <a:pPr>
              <a:spcAft>
                <a:spcPts val="900"/>
              </a:spcAft>
              <a:defRPr sz="1800" b="0">
                <a:solidFill>
                  <a:srgbClr val="626960"/>
                </a:solidFill>
                <a:latin typeface="Aptos"/>
              </a:defRPr>
            </a:pPr>
            <a:r>
              <a:t>Keep item status up to date.</a:t>
            </a:r>
          </a:p>
          <a:p>
            <a:pPr>
              <a:spcAft>
                <a:spcPts val="900"/>
              </a:spcAft>
              <a:defRPr sz="1800" b="0">
                <a:solidFill>
                  <a:srgbClr val="626960"/>
                </a:solidFill>
                <a:latin typeface="Aptos"/>
              </a:defRPr>
            </a:pPr>
            <a:r>
              <a:t>Admin reviews records and reports.</a:t>
            </a:r>
          </a:p>
          <a:p>
            <a:pPr>
              <a:spcAft>
                <a:spcPts val="900"/>
              </a:spcAft>
              <a:defRPr sz="1800" b="0">
                <a:solidFill>
                  <a:srgbClr val="626960"/>
                </a:solidFill>
                <a:latin typeface="Aptos"/>
              </a:defRPr>
            </a:pPr>
            <a:r>
              <a:t>Export records when needed.</a:t>
            </a:r>
          </a:p>
          <a:p>
            <a:pPr>
              <a:spcAft>
                <a:spcPts val="900"/>
              </a:spcAft>
              <a:defRPr sz="1800" b="0">
                <a:solidFill>
                  <a:srgbClr val="626960"/>
                </a:solidFill>
                <a:latin typeface="Aptos"/>
              </a:defRPr>
            </a:pPr>
            <a:r>
              <a:t>Back up data before major updates.</a:t>
            </a:r>
          </a:p>
        </p:txBody>
      </p:sp>
      <p:sp>
        <p:nvSpPr>
          <p:cNvPr id="26" name="TextBox 25"/>
          <p:cNvSpPr txBox="1"/>
          <p:nvPr/>
        </p:nvSpPr>
        <p:spPr>
          <a:xfrm>
            <a:off x="731520" y="5897880"/>
            <a:ext cx="10881360" cy="310896"/>
          </a:xfrm>
          <a:prstGeom prst="rect">
            <a:avLst/>
          </a:prstGeom>
          <a:noFill/>
        </p:spPr>
        <p:txBody>
          <a:bodyPr wrap="square" lIns="0" rIns="0" tIns="0" bIns="0">
            <a:spAutoFit/>
          </a:bodyPr>
          <a:lstStyle/>
          <a:p>
            <a:pPr>
              <a:spcAft>
                <a:spcPts val="900"/>
              </a:spcAft>
              <a:defRPr sz="1700" b="1">
                <a:solidFill>
                  <a:srgbClr val="254B3B"/>
                </a:solidFill>
                <a:latin typeface="Aptos"/>
              </a:defRPr>
            </a:pPr>
            <a:r>
              <a:t>Example: a completed calculator deal links the buyer, seller and item in one saved record.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502920" y="347472"/>
            <a:ext cx="10058400" cy="274320"/>
          </a:xfrm>
          <a:prstGeom prst="rect">
            <a:avLst/>
          </a:prstGeom>
          <a:noFill/>
        </p:spPr>
        <p:txBody>
          <a:bodyPr wrap="square" lIns="0" rIns="0" tIns="0" bIns="0">
            <a:spAutoFit/>
          </a:bodyPr>
          <a:lstStyle/>
          <a:p>
            <a:pPr>
              <a:spcAft>
                <a:spcPts val="900"/>
              </a:spcAft>
              <a:defRPr sz="1100" b="1">
                <a:solidFill>
                  <a:srgbClr val="254B3B"/>
                </a:solidFill>
                <a:latin typeface="Aptos"/>
              </a:defRPr>
            </a:pPr>
            <a:r>
              <a:t>07 / ADMIN PANEL &amp; EMAIL</a:t>
            </a:r>
          </a:p>
        </p:txBody>
      </p:sp>
      <p:sp>
        <p:nvSpPr>
          <p:cNvPr id="3" name="TextBox 2"/>
          <p:cNvSpPr txBox="1"/>
          <p:nvPr/>
        </p:nvSpPr>
        <p:spPr>
          <a:xfrm>
            <a:off x="502920" y="850392"/>
            <a:ext cx="11155680" cy="960120"/>
          </a:xfrm>
          <a:prstGeom prst="rect">
            <a:avLst/>
          </a:prstGeom>
          <a:noFill/>
        </p:spPr>
        <p:txBody>
          <a:bodyPr wrap="square" lIns="0" rIns="0" tIns="0" bIns="0">
            <a:spAutoFit/>
          </a:bodyPr>
          <a:lstStyle/>
          <a:p>
            <a:pPr>
              <a:spcAft>
                <a:spcPts val="900"/>
              </a:spcAft>
              <a:defRPr sz="3400" b="1">
                <a:solidFill>
                  <a:srgbClr val="202721"/>
                </a:solidFill>
                <a:latin typeface="Aptos"/>
              </a:defRPr>
            </a:pPr>
            <a:r>
              <a:t>How is the platform managed?</a:t>
            </a:r>
          </a:p>
        </p:txBody>
      </p:sp>
      <p:sp>
        <p:nvSpPr>
          <p:cNvPr id="4" name="TextBox 3"/>
          <p:cNvSpPr txBox="1"/>
          <p:nvPr/>
        </p:nvSpPr>
        <p:spPr>
          <a:xfrm>
            <a:off x="530352" y="1773936"/>
            <a:ext cx="11064240" cy="594360"/>
          </a:xfrm>
          <a:prstGeom prst="rect">
            <a:avLst/>
          </a:prstGeom>
          <a:noFill/>
        </p:spPr>
        <p:txBody>
          <a:bodyPr wrap="square" lIns="0" rIns="0" tIns="0" bIns="0">
            <a:spAutoFit/>
          </a:bodyPr>
          <a:lstStyle/>
          <a:p>
            <a:pPr>
              <a:spcAft>
                <a:spcPts val="900"/>
              </a:spcAft>
              <a:defRPr sz="1700" b="0">
                <a:solidFill>
                  <a:srgbClr val="626960"/>
                </a:solidFill>
                <a:latin typeface="Aptos"/>
              </a:defRPr>
            </a:pPr>
            <a:r>
              <a:t>Students use the marketplace. Administrators manage its records and reported issues.</a:t>
            </a:r>
          </a:p>
        </p:txBody>
      </p:sp>
      <p:sp>
        <p:nvSpPr>
          <p:cNvPr id="5" name="Rectangle 4"/>
          <p:cNvSpPr/>
          <p:nvPr/>
        </p:nvSpPr>
        <p:spPr>
          <a:xfrm>
            <a:off x="502920" y="6419088"/>
            <a:ext cx="11183112" cy="13716"/>
          </a:xfrm>
          <a:prstGeom prst="rect">
            <a:avLst/>
          </a:prstGeom>
          <a:solidFill>
            <a:srgbClr val="DA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37960"/>
            <a:ext cx="9144000" cy="164592"/>
          </a:xfrm>
          <a:prstGeom prst="rect">
            <a:avLst/>
          </a:prstGeom>
          <a:noFill/>
        </p:spPr>
        <p:txBody>
          <a:bodyPr wrap="square" lIns="0" rIns="0" tIns="0" bIns="0">
            <a:spAutoFit/>
          </a:bodyPr>
          <a:lstStyle/>
          <a:p>
            <a:pPr>
              <a:spcAft>
                <a:spcPts val="900"/>
              </a:spcAft>
              <a:defRPr sz="900" b="1">
                <a:solidFill>
                  <a:srgbClr val="626960"/>
                </a:solidFill>
                <a:latin typeface="Aptos"/>
              </a:defRPr>
            </a:pPr>
            <a:r>
              <a:t>CAMPUS LOOP  /  COLLEGE PROJECT</a:t>
            </a:r>
          </a:p>
        </p:txBody>
      </p:sp>
      <p:sp>
        <p:nvSpPr>
          <p:cNvPr id="7" name="TextBox 6"/>
          <p:cNvSpPr txBox="1"/>
          <p:nvPr/>
        </p:nvSpPr>
        <p:spPr>
          <a:xfrm>
            <a:off x="11018520" y="6519672"/>
            <a:ext cx="731520" cy="201168"/>
          </a:xfrm>
          <a:prstGeom prst="rect">
            <a:avLst/>
          </a:prstGeom>
          <a:noFill/>
        </p:spPr>
        <p:txBody>
          <a:bodyPr wrap="square" lIns="0" rIns="0" tIns="0" bIns="0">
            <a:spAutoFit/>
          </a:bodyPr>
          <a:lstStyle/>
          <a:p>
            <a:pPr>
              <a:spcAft>
                <a:spcPts val="900"/>
              </a:spcAft>
              <a:defRPr sz="1000" b="1">
                <a:solidFill>
                  <a:srgbClr val="254B3B"/>
                </a:solidFill>
                <a:latin typeface="Aptos"/>
              </a:defRPr>
            </a:pPr>
            <a:r>
              <a:t>08 / 10</a:t>
            </a:r>
          </a:p>
        </p:txBody>
      </p:sp>
      <p:sp>
        <p:nvSpPr>
          <p:cNvPr id="8" name="Rounded Rectangle 7"/>
          <p:cNvSpPr/>
          <p:nvPr/>
        </p:nvSpPr>
        <p:spPr>
          <a:xfrm>
            <a:off x="594360" y="2606040"/>
            <a:ext cx="5376672" cy="3319272"/>
          </a:xfrm>
          <a:prstGeom prst="round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08776" y="2606040"/>
            <a:ext cx="5376672" cy="3319272"/>
          </a:xfrm>
          <a:prstGeom prst="round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843784"/>
            <a:ext cx="4873752" cy="502920"/>
          </a:xfrm>
          <a:prstGeom prst="rect">
            <a:avLst/>
          </a:prstGeom>
          <a:noFill/>
        </p:spPr>
        <p:txBody>
          <a:bodyPr wrap="square" lIns="0" rIns="0" tIns="0" bIns="0">
            <a:spAutoFit/>
          </a:bodyPr>
          <a:lstStyle/>
          <a:p>
            <a:pPr>
              <a:spcAft>
                <a:spcPts val="900"/>
              </a:spcAft>
              <a:defRPr sz="2700" b="1">
                <a:solidFill>
                  <a:srgbClr val="254B3B"/>
                </a:solidFill>
                <a:latin typeface="Aptos"/>
              </a:defRPr>
            </a:pPr>
            <a:r>
              <a:t>Admin panel</a:t>
            </a:r>
          </a:p>
        </p:txBody>
      </p:sp>
      <p:sp>
        <p:nvSpPr>
          <p:cNvPr id="11" name="TextBox 10"/>
          <p:cNvSpPr txBox="1"/>
          <p:nvPr/>
        </p:nvSpPr>
        <p:spPr>
          <a:xfrm>
            <a:off x="841248" y="3666744"/>
            <a:ext cx="4837176" cy="1856231"/>
          </a:xfrm>
          <a:prstGeom prst="rect">
            <a:avLst/>
          </a:prstGeom>
          <a:noFill/>
        </p:spPr>
        <p:txBody>
          <a:bodyPr wrap="square" lIns="0" rIns="0" tIns="0" bIns="0">
            <a:spAutoFit/>
          </a:bodyPr>
          <a:lstStyle/>
          <a:p>
            <a:pPr>
              <a:spcAft>
                <a:spcPts val="900"/>
              </a:spcAft>
              <a:defRPr sz="2000" b="0">
                <a:solidFill>
                  <a:srgbClr val="626960"/>
                </a:solidFill>
                <a:latin typeface="Aptos"/>
              </a:defRPr>
            </a:pPr>
            <a:r>
              <a:t>View and search users and listings</a:t>
            </a:r>
          </a:p>
          <a:p>
            <a:pPr>
              <a:spcAft>
                <a:spcPts val="900"/>
              </a:spcAft>
              <a:defRPr sz="2000" b="0">
                <a:solidFill>
                  <a:srgbClr val="626960"/>
                </a:solidFill>
                <a:latin typeface="Aptos"/>
              </a:defRPr>
            </a:pPr>
            <a:r>
              <a:t>Suspend accounts when required</a:t>
            </a:r>
          </a:p>
          <a:p>
            <a:pPr>
              <a:spcAft>
                <a:spcPts val="900"/>
              </a:spcAft>
              <a:defRPr sz="2000" b="0">
                <a:solidFill>
                  <a:srgbClr val="626960"/>
                </a:solidFill>
                <a:latin typeface="Aptos"/>
              </a:defRPr>
            </a:pPr>
            <a:r>
              <a:t>Hide or restore listings</a:t>
            </a:r>
          </a:p>
          <a:p>
            <a:pPr>
              <a:spcAft>
                <a:spcPts val="900"/>
              </a:spcAft>
              <a:defRPr sz="2000" b="0">
                <a:solidFill>
                  <a:srgbClr val="626960"/>
                </a:solidFill>
                <a:latin typeface="Aptos"/>
              </a:defRPr>
            </a:pPr>
            <a:r>
              <a:t>Review reports and export records</a:t>
            </a:r>
          </a:p>
        </p:txBody>
      </p:sp>
      <p:sp>
        <p:nvSpPr>
          <p:cNvPr id="12" name="TextBox 11"/>
          <p:cNvSpPr txBox="1"/>
          <p:nvPr/>
        </p:nvSpPr>
        <p:spPr>
          <a:xfrm>
            <a:off x="6455664" y="2843784"/>
            <a:ext cx="4873752" cy="502920"/>
          </a:xfrm>
          <a:prstGeom prst="rect">
            <a:avLst/>
          </a:prstGeom>
          <a:noFill/>
        </p:spPr>
        <p:txBody>
          <a:bodyPr wrap="square" lIns="0" rIns="0" tIns="0" bIns="0">
            <a:spAutoFit/>
          </a:bodyPr>
          <a:lstStyle/>
          <a:p>
            <a:pPr>
              <a:spcAft>
                <a:spcPts val="900"/>
              </a:spcAft>
              <a:defRPr sz="2700" b="1">
                <a:solidFill>
                  <a:srgbClr val="254B3B"/>
                </a:solidFill>
                <a:latin typeface="Aptos"/>
              </a:defRPr>
            </a:pPr>
            <a:r>
              <a:t>Automatic email</a:t>
            </a:r>
          </a:p>
        </p:txBody>
      </p:sp>
      <p:sp>
        <p:nvSpPr>
          <p:cNvPr id="13" name="TextBox 12"/>
          <p:cNvSpPr txBox="1"/>
          <p:nvPr/>
        </p:nvSpPr>
        <p:spPr>
          <a:xfrm>
            <a:off x="6455664" y="3666744"/>
            <a:ext cx="4837176" cy="1856231"/>
          </a:xfrm>
          <a:prstGeom prst="rect">
            <a:avLst/>
          </a:prstGeom>
          <a:noFill/>
        </p:spPr>
        <p:txBody>
          <a:bodyPr wrap="square" lIns="0" rIns="0" tIns="0" bIns="0">
            <a:spAutoFit/>
          </a:bodyPr>
          <a:lstStyle/>
          <a:p>
            <a:pPr>
              <a:spcAft>
                <a:spcPts val="900"/>
              </a:spcAft>
              <a:defRPr sz="2000" b="0">
                <a:solidFill>
                  <a:srgbClr val="626960"/>
                </a:solidFill>
                <a:latin typeface="Aptos"/>
              </a:defRPr>
            </a:pPr>
            <a:r>
              <a:t>Alert users to unread messages</a:t>
            </a:r>
          </a:p>
          <a:p>
            <a:pPr>
              <a:spcAft>
                <a:spcPts val="900"/>
              </a:spcAft>
              <a:defRPr sz="2000" b="0">
                <a:solidFill>
                  <a:srgbClr val="626960"/>
                </a:solidFill>
                <a:latin typeface="Aptos"/>
              </a:defRPr>
            </a:pPr>
            <a:r>
              <a:t>Send deal confirmation updates</a:t>
            </a:r>
          </a:p>
          <a:p>
            <a:pPr>
              <a:spcAft>
                <a:spcPts val="900"/>
              </a:spcAft>
              <a:defRPr sz="2000" b="0">
                <a:solidFill>
                  <a:srgbClr val="626960"/>
                </a:solidFill>
                <a:latin typeface="Aptos"/>
              </a:defRPr>
            </a:pPr>
            <a:r>
              <a:t>Send password reset links</a:t>
            </a:r>
          </a:p>
          <a:p>
            <a:pPr>
              <a:spcAft>
                <a:spcPts val="900"/>
              </a:spcAft>
              <a:defRPr sz="2000" b="0">
                <a:solidFill>
                  <a:srgbClr val="626960"/>
                </a:solidFill>
                <a:latin typeface="Aptos"/>
              </a:defRPr>
            </a:pPr>
            <a:r>
              <a:t>Allow notification preferences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502920" y="347472"/>
            <a:ext cx="10058400" cy="274320"/>
          </a:xfrm>
          <a:prstGeom prst="rect">
            <a:avLst/>
          </a:prstGeom>
          <a:noFill/>
        </p:spPr>
        <p:txBody>
          <a:bodyPr wrap="square" lIns="0" rIns="0" tIns="0" bIns="0">
            <a:spAutoFit/>
          </a:bodyPr>
          <a:lstStyle/>
          <a:p>
            <a:pPr>
              <a:spcAft>
                <a:spcPts val="900"/>
              </a:spcAft>
              <a:defRPr sz="1100" b="1">
                <a:solidFill>
                  <a:srgbClr val="254B3B"/>
                </a:solidFill>
                <a:latin typeface="Aptos"/>
              </a:defRPr>
            </a:pPr>
            <a:r>
              <a:t>08 / TESTING &amp; DEPLOYMENT</a:t>
            </a:r>
          </a:p>
        </p:txBody>
      </p:sp>
      <p:sp>
        <p:nvSpPr>
          <p:cNvPr id="3" name="TextBox 2"/>
          <p:cNvSpPr txBox="1"/>
          <p:nvPr/>
        </p:nvSpPr>
        <p:spPr>
          <a:xfrm>
            <a:off x="502920" y="850392"/>
            <a:ext cx="11155680" cy="960120"/>
          </a:xfrm>
          <a:prstGeom prst="rect">
            <a:avLst/>
          </a:prstGeom>
          <a:noFill/>
        </p:spPr>
        <p:txBody>
          <a:bodyPr wrap="square" lIns="0" rIns="0" tIns="0" bIns="0">
            <a:spAutoFit/>
          </a:bodyPr>
          <a:lstStyle/>
          <a:p>
            <a:pPr>
              <a:spcAft>
                <a:spcPts val="900"/>
              </a:spcAft>
              <a:defRPr sz="3400" b="1">
                <a:solidFill>
                  <a:srgbClr val="202721"/>
                </a:solidFill>
                <a:latin typeface="Aptos"/>
              </a:defRPr>
            </a:pPr>
            <a:r>
              <a:t>How did we check it and make it live?</a:t>
            </a:r>
          </a:p>
        </p:txBody>
      </p:sp>
      <p:sp>
        <p:nvSpPr>
          <p:cNvPr id="4" name="TextBox 3"/>
          <p:cNvSpPr txBox="1"/>
          <p:nvPr/>
        </p:nvSpPr>
        <p:spPr>
          <a:xfrm>
            <a:off x="530352" y="1773936"/>
            <a:ext cx="11064240" cy="594360"/>
          </a:xfrm>
          <a:prstGeom prst="rect">
            <a:avLst/>
          </a:prstGeom>
          <a:noFill/>
        </p:spPr>
        <p:txBody>
          <a:bodyPr wrap="square" lIns="0" rIns="0" tIns="0" bIns="0">
            <a:spAutoFit/>
          </a:bodyPr>
          <a:lstStyle/>
          <a:p>
            <a:pPr>
              <a:spcAft>
                <a:spcPts val="900"/>
              </a:spcAft>
              <a:defRPr sz="1700" b="0">
                <a:solidFill>
                  <a:srgbClr val="626960"/>
                </a:solidFill>
                <a:latin typeface="Aptos"/>
              </a:defRPr>
            </a:pPr>
            <a:r>
              <a:t>We checked important student actions before publishing the website.</a:t>
            </a:r>
          </a:p>
        </p:txBody>
      </p:sp>
      <p:sp>
        <p:nvSpPr>
          <p:cNvPr id="5" name="Rectangle 4"/>
          <p:cNvSpPr/>
          <p:nvPr/>
        </p:nvSpPr>
        <p:spPr>
          <a:xfrm>
            <a:off x="502920" y="6419088"/>
            <a:ext cx="11183112" cy="13716"/>
          </a:xfrm>
          <a:prstGeom prst="rect">
            <a:avLst/>
          </a:prstGeom>
          <a:solidFill>
            <a:srgbClr val="DA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37960"/>
            <a:ext cx="9144000" cy="164592"/>
          </a:xfrm>
          <a:prstGeom prst="rect">
            <a:avLst/>
          </a:prstGeom>
          <a:noFill/>
        </p:spPr>
        <p:txBody>
          <a:bodyPr wrap="square" lIns="0" rIns="0" tIns="0" bIns="0">
            <a:spAutoFit/>
          </a:bodyPr>
          <a:lstStyle/>
          <a:p>
            <a:pPr>
              <a:spcAft>
                <a:spcPts val="900"/>
              </a:spcAft>
              <a:defRPr sz="900" b="1">
                <a:solidFill>
                  <a:srgbClr val="626960"/>
                </a:solidFill>
                <a:latin typeface="Aptos"/>
              </a:defRPr>
            </a:pPr>
            <a:r>
              <a:t>CAMPUS LOOP  /  COLLEGE PROJECT</a:t>
            </a:r>
          </a:p>
        </p:txBody>
      </p:sp>
      <p:sp>
        <p:nvSpPr>
          <p:cNvPr id="7" name="TextBox 6"/>
          <p:cNvSpPr txBox="1"/>
          <p:nvPr/>
        </p:nvSpPr>
        <p:spPr>
          <a:xfrm>
            <a:off x="11018520" y="6519672"/>
            <a:ext cx="731520" cy="201168"/>
          </a:xfrm>
          <a:prstGeom prst="rect">
            <a:avLst/>
          </a:prstGeom>
          <a:noFill/>
        </p:spPr>
        <p:txBody>
          <a:bodyPr wrap="square" lIns="0" rIns="0" tIns="0" bIns="0">
            <a:spAutoFit/>
          </a:bodyPr>
          <a:lstStyle/>
          <a:p>
            <a:pPr>
              <a:spcAft>
                <a:spcPts val="900"/>
              </a:spcAft>
              <a:defRPr sz="1000" b="1">
                <a:solidFill>
                  <a:srgbClr val="254B3B"/>
                </a:solidFill>
                <a:latin typeface="Aptos"/>
              </a:defRPr>
            </a:pPr>
            <a:r>
              <a:t>09 / 10</a:t>
            </a:r>
          </a:p>
        </p:txBody>
      </p:sp>
      <p:sp>
        <p:nvSpPr>
          <p:cNvPr id="8" name="Rectangle 7"/>
          <p:cNvSpPr/>
          <p:nvPr/>
        </p:nvSpPr>
        <p:spPr>
          <a:xfrm>
            <a:off x="594360" y="2624328"/>
            <a:ext cx="6400800" cy="521207"/>
          </a:xfrm>
          <a:prstGeom prst="rect">
            <a:avLst/>
          </a:prstGeom>
          <a:solidFill>
            <a:srgbClr val="254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761488"/>
            <a:ext cx="2331720" cy="246888"/>
          </a:xfrm>
          <a:prstGeom prst="rect">
            <a:avLst/>
          </a:prstGeom>
          <a:noFill/>
        </p:spPr>
        <p:txBody>
          <a:bodyPr wrap="square" lIns="0" rIns="0" tIns="0" bIns="0">
            <a:spAutoFit/>
          </a:bodyPr>
          <a:lstStyle/>
          <a:p>
            <a:pPr>
              <a:spcAft>
                <a:spcPts val="900"/>
              </a:spcAft>
              <a:defRPr sz="1300" b="1">
                <a:solidFill>
                  <a:srgbClr val="FFFDF8"/>
                </a:solidFill>
                <a:latin typeface="Aptos"/>
              </a:defRPr>
            </a:pPr>
            <a:r>
              <a:t>WHAT WE TESTED</a:t>
            </a:r>
          </a:p>
        </p:txBody>
      </p:sp>
      <p:sp>
        <p:nvSpPr>
          <p:cNvPr id="10" name="TextBox 9"/>
          <p:cNvSpPr txBox="1"/>
          <p:nvPr/>
        </p:nvSpPr>
        <p:spPr>
          <a:xfrm>
            <a:off x="3337560" y="2761488"/>
            <a:ext cx="3429000" cy="246888"/>
          </a:xfrm>
          <a:prstGeom prst="rect">
            <a:avLst/>
          </a:prstGeom>
          <a:noFill/>
        </p:spPr>
        <p:txBody>
          <a:bodyPr wrap="square" lIns="0" rIns="0" tIns="0" bIns="0">
            <a:spAutoFit/>
          </a:bodyPr>
          <a:lstStyle/>
          <a:p>
            <a:pPr>
              <a:spcAft>
                <a:spcPts val="900"/>
              </a:spcAft>
              <a:defRPr sz="1300" b="1">
                <a:solidFill>
                  <a:srgbClr val="FFFDF8"/>
                </a:solidFill>
                <a:latin typeface="Aptos"/>
              </a:defRPr>
            </a:pPr>
            <a:r>
              <a:t>EXPECTED RESULT</a:t>
            </a:r>
          </a:p>
        </p:txBody>
      </p:sp>
      <p:sp>
        <p:nvSpPr>
          <p:cNvPr id="11" name="Rectangle 10"/>
          <p:cNvSpPr/>
          <p:nvPr/>
        </p:nvSpPr>
        <p:spPr>
          <a:xfrm>
            <a:off x="594360" y="3163824"/>
            <a:ext cx="6400800" cy="603504"/>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3319272"/>
            <a:ext cx="2414016" cy="365760"/>
          </a:xfrm>
          <a:prstGeom prst="rect">
            <a:avLst/>
          </a:prstGeom>
          <a:noFill/>
        </p:spPr>
        <p:txBody>
          <a:bodyPr wrap="square" lIns="0" rIns="0" tIns="0" bIns="0">
            <a:spAutoFit/>
          </a:bodyPr>
          <a:lstStyle/>
          <a:p>
            <a:pPr>
              <a:spcAft>
                <a:spcPts val="900"/>
              </a:spcAft>
              <a:defRPr sz="1700" b="1">
                <a:solidFill>
                  <a:srgbClr val="254B3B"/>
                </a:solidFill>
                <a:latin typeface="Aptos"/>
              </a:defRPr>
            </a:pPr>
            <a:r>
              <a:t>Login and access</a:t>
            </a:r>
          </a:p>
        </p:txBody>
      </p:sp>
      <p:sp>
        <p:nvSpPr>
          <p:cNvPr id="13" name="TextBox 12"/>
          <p:cNvSpPr txBox="1"/>
          <p:nvPr/>
        </p:nvSpPr>
        <p:spPr>
          <a:xfrm>
            <a:off x="3337560" y="3319272"/>
            <a:ext cx="3447288" cy="365760"/>
          </a:xfrm>
          <a:prstGeom prst="rect">
            <a:avLst/>
          </a:prstGeom>
          <a:noFill/>
        </p:spPr>
        <p:txBody>
          <a:bodyPr wrap="square" lIns="0" rIns="0" tIns="0" bIns="0">
            <a:spAutoFit/>
          </a:bodyPr>
          <a:lstStyle/>
          <a:p>
            <a:pPr>
              <a:spcAft>
                <a:spcPts val="900"/>
              </a:spcAft>
              <a:defRPr sz="1600" b="0">
                <a:solidFill>
                  <a:srgbClr val="202721"/>
                </a:solidFill>
                <a:latin typeface="Aptos"/>
              </a:defRPr>
            </a:pPr>
            <a:r>
              <a:t>Protected pages require permission</a:t>
            </a:r>
          </a:p>
        </p:txBody>
      </p:sp>
      <p:sp>
        <p:nvSpPr>
          <p:cNvPr id="14" name="Rectangle 13"/>
          <p:cNvSpPr/>
          <p:nvPr/>
        </p:nvSpPr>
        <p:spPr>
          <a:xfrm>
            <a:off x="594360" y="3785615"/>
            <a:ext cx="6400800" cy="603504"/>
          </a:xfrm>
          <a:prstGeom prst="rect">
            <a:avLst/>
          </a:prstGeom>
          <a:solidFill>
            <a:srgbClr val="EAED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 y="3941063"/>
            <a:ext cx="2414016" cy="365760"/>
          </a:xfrm>
          <a:prstGeom prst="rect">
            <a:avLst/>
          </a:prstGeom>
          <a:noFill/>
        </p:spPr>
        <p:txBody>
          <a:bodyPr wrap="square" lIns="0" rIns="0" tIns="0" bIns="0">
            <a:spAutoFit/>
          </a:bodyPr>
          <a:lstStyle/>
          <a:p>
            <a:pPr>
              <a:spcAft>
                <a:spcPts val="900"/>
              </a:spcAft>
              <a:defRPr sz="1700" b="1">
                <a:solidFill>
                  <a:srgbClr val="254B3B"/>
                </a:solidFill>
                <a:latin typeface="Aptos"/>
              </a:defRPr>
            </a:pPr>
            <a:r>
              <a:t>Item posting and search</a:t>
            </a:r>
          </a:p>
        </p:txBody>
      </p:sp>
      <p:sp>
        <p:nvSpPr>
          <p:cNvPr id="16" name="TextBox 15"/>
          <p:cNvSpPr txBox="1"/>
          <p:nvPr/>
        </p:nvSpPr>
        <p:spPr>
          <a:xfrm>
            <a:off x="3337560" y="3941063"/>
            <a:ext cx="3447288" cy="365760"/>
          </a:xfrm>
          <a:prstGeom prst="rect">
            <a:avLst/>
          </a:prstGeom>
          <a:noFill/>
        </p:spPr>
        <p:txBody>
          <a:bodyPr wrap="square" lIns="0" rIns="0" tIns="0" bIns="0">
            <a:spAutoFit/>
          </a:bodyPr>
          <a:lstStyle/>
          <a:p>
            <a:pPr>
              <a:spcAft>
                <a:spcPts val="900"/>
              </a:spcAft>
              <a:defRPr sz="1600" b="0">
                <a:solidFill>
                  <a:srgbClr val="202721"/>
                </a:solidFill>
                <a:latin typeface="Aptos"/>
              </a:defRPr>
            </a:pPr>
            <a:r>
              <a:t>Saved items appear in search</a:t>
            </a:r>
          </a:p>
        </p:txBody>
      </p:sp>
      <p:sp>
        <p:nvSpPr>
          <p:cNvPr id="17" name="Rectangle 16"/>
          <p:cNvSpPr/>
          <p:nvPr/>
        </p:nvSpPr>
        <p:spPr>
          <a:xfrm>
            <a:off x="594360" y="4407408"/>
            <a:ext cx="6400800" cy="603504"/>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562856"/>
            <a:ext cx="2414016" cy="365760"/>
          </a:xfrm>
          <a:prstGeom prst="rect">
            <a:avLst/>
          </a:prstGeom>
          <a:noFill/>
        </p:spPr>
        <p:txBody>
          <a:bodyPr wrap="square" lIns="0" rIns="0" tIns="0" bIns="0">
            <a:spAutoFit/>
          </a:bodyPr>
          <a:lstStyle/>
          <a:p>
            <a:pPr>
              <a:spcAft>
                <a:spcPts val="900"/>
              </a:spcAft>
              <a:defRPr sz="1700" b="1">
                <a:solidFill>
                  <a:srgbClr val="254B3B"/>
                </a:solidFill>
                <a:latin typeface="Aptos"/>
              </a:defRPr>
            </a:pPr>
            <a:r>
              <a:t>Deal confirmation</a:t>
            </a:r>
          </a:p>
        </p:txBody>
      </p:sp>
      <p:sp>
        <p:nvSpPr>
          <p:cNvPr id="19" name="TextBox 18"/>
          <p:cNvSpPr txBox="1"/>
          <p:nvPr/>
        </p:nvSpPr>
        <p:spPr>
          <a:xfrm>
            <a:off x="3337560" y="4562856"/>
            <a:ext cx="3447288" cy="365760"/>
          </a:xfrm>
          <a:prstGeom prst="rect">
            <a:avLst/>
          </a:prstGeom>
          <a:noFill/>
        </p:spPr>
        <p:txBody>
          <a:bodyPr wrap="square" lIns="0" rIns="0" tIns="0" bIns="0">
            <a:spAutoFit/>
          </a:bodyPr>
          <a:lstStyle/>
          <a:p>
            <a:pPr>
              <a:spcAft>
                <a:spcPts val="900"/>
              </a:spcAft>
              <a:defRPr sz="1600" b="0">
                <a:solidFill>
                  <a:srgbClr val="202721"/>
                </a:solidFill>
                <a:latin typeface="Aptos"/>
              </a:defRPr>
            </a:pPr>
            <a:r>
              <a:t>Only the buyer can confirm receipt</a:t>
            </a:r>
          </a:p>
        </p:txBody>
      </p:sp>
      <p:sp>
        <p:nvSpPr>
          <p:cNvPr id="20" name="Rectangle 19"/>
          <p:cNvSpPr/>
          <p:nvPr/>
        </p:nvSpPr>
        <p:spPr>
          <a:xfrm>
            <a:off x="594360" y="5029200"/>
            <a:ext cx="6400800" cy="603504"/>
          </a:xfrm>
          <a:prstGeom prst="rect">
            <a:avLst/>
          </a:prstGeom>
          <a:solidFill>
            <a:srgbClr val="EAED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184648"/>
            <a:ext cx="2414016" cy="365760"/>
          </a:xfrm>
          <a:prstGeom prst="rect">
            <a:avLst/>
          </a:prstGeom>
          <a:noFill/>
        </p:spPr>
        <p:txBody>
          <a:bodyPr wrap="square" lIns="0" rIns="0" tIns="0" bIns="0">
            <a:spAutoFit/>
          </a:bodyPr>
          <a:lstStyle/>
          <a:p>
            <a:pPr>
              <a:spcAft>
                <a:spcPts val="900"/>
              </a:spcAft>
              <a:defRPr sz="1700" b="1">
                <a:solidFill>
                  <a:srgbClr val="254B3B"/>
                </a:solidFill>
                <a:latin typeface="Aptos"/>
              </a:defRPr>
            </a:pPr>
            <a:r>
              <a:t>Phone and desktop views</a:t>
            </a:r>
          </a:p>
        </p:txBody>
      </p:sp>
      <p:sp>
        <p:nvSpPr>
          <p:cNvPr id="22" name="TextBox 21"/>
          <p:cNvSpPr txBox="1"/>
          <p:nvPr/>
        </p:nvSpPr>
        <p:spPr>
          <a:xfrm>
            <a:off x="3337560" y="5184648"/>
            <a:ext cx="3447288" cy="365760"/>
          </a:xfrm>
          <a:prstGeom prst="rect">
            <a:avLst/>
          </a:prstGeom>
          <a:noFill/>
        </p:spPr>
        <p:txBody>
          <a:bodyPr wrap="square" lIns="0" rIns="0" tIns="0" bIns="0">
            <a:spAutoFit/>
          </a:bodyPr>
          <a:lstStyle/>
          <a:p>
            <a:pPr>
              <a:spcAft>
                <a:spcPts val="900"/>
              </a:spcAft>
              <a:defRPr sz="1600" b="0">
                <a:solidFill>
                  <a:srgbClr val="202721"/>
                </a:solidFill>
                <a:latin typeface="Aptos"/>
              </a:defRPr>
            </a:pPr>
            <a:r>
              <a:t>Content fits the screen</a:t>
            </a:r>
          </a:p>
        </p:txBody>
      </p:sp>
      <p:sp>
        <p:nvSpPr>
          <p:cNvPr id="23" name="Rounded Rectangle 22"/>
          <p:cNvSpPr/>
          <p:nvPr/>
        </p:nvSpPr>
        <p:spPr>
          <a:xfrm>
            <a:off x="7315200" y="2624328"/>
            <a:ext cx="4279392" cy="3493008"/>
          </a:xfrm>
          <a:prstGeom prst="round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52944" y="2852928"/>
            <a:ext cx="3749039" cy="457200"/>
          </a:xfrm>
          <a:prstGeom prst="rect">
            <a:avLst/>
          </a:prstGeom>
          <a:noFill/>
        </p:spPr>
        <p:txBody>
          <a:bodyPr wrap="square" lIns="0" rIns="0" tIns="0" bIns="0">
            <a:spAutoFit/>
          </a:bodyPr>
          <a:lstStyle/>
          <a:p>
            <a:pPr>
              <a:spcAft>
                <a:spcPts val="900"/>
              </a:spcAft>
              <a:defRPr sz="2600" b="1">
                <a:solidFill>
                  <a:srgbClr val="254B3B"/>
                </a:solidFill>
                <a:latin typeface="Aptos"/>
              </a:defRPr>
            </a:pPr>
            <a:r>
              <a:t>Available online</a:t>
            </a:r>
          </a:p>
        </p:txBody>
      </p:sp>
      <p:sp>
        <p:nvSpPr>
          <p:cNvPr id="25" name="TextBox 24"/>
          <p:cNvSpPr txBox="1"/>
          <p:nvPr/>
        </p:nvSpPr>
        <p:spPr>
          <a:xfrm>
            <a:off x="7552944" y="3657600"/>
            <a:ext cx="3685032" cy="1554480"/>
          </a:xfrm>
          <a:prstGeom prst="rect">
            <a:avLst/>
          </a:prstGeom>
          <a:noFill/>
        </p:spPr>
        <p:txBody>
          <a:bodyPr wrap="square" lIns="0" rIns="0" tIns="0" bIns="0">
            <a:spAutoFit/>
          </a:bodyPr>
          <a:lstStyle/>
          <a:p>
            <a:pPr>
              <a:spcAft>
                <a:spcPts val="900"/>
              </a:spcAft>
              <a:defRPr sz="2000" b="0">
                <a:solidFill>
                  <a:srgbClr val="626960"/>
                </a:solidFill>
                <a:latin typeface="Aptos"/>
              </a:defRPr>
            </a:pPr>
            <a:r>
              <a:t>Vercel hosts the website.</a:t>
            </a:r>
          </a:p>
          <a:p>
            <a:pPr>
              <a:spcAft>
                <a:spcPts val="900"/>
              </a:spcAft>
              <a:defRPr sz="2000" b="0">
                <a:solidFill>
                  <a:srgbClr val="626960"/>
                </a:solidFill>
                <a:latin typeface="Aptos"/>
              </a:defRPr>
            </a:pPr>
            <a:r>
              <a:t>Neon stores the database.</a:t>
            </a:r>
          </a:p>
          <a:p>
            <a:pPr>
              <a:spcAft>
                <a:spcPts val="900"/>
              </a:spcAft>
              <a:defRPr sz="2000" b="0">
                <a:solidFill>
                  <a:srgbClr val="626960"/>
                </a:solidFill>
                <a:latin typeface="Aptos"/>
              </a:defRPr>
            </a:pPr>
            <a:r>
              <a:t>Students open a link to use it.</a:t>
            </a:r>
          </a:p>
        </p:txBody>
      </p:sp>
      <p:sp>
        <p:nvSpPr>
          <p:cNvPr id="26" name="TextBox 25"/>
          <p:cNvSpPr txBox="1"/>
          <p:nvPr/>
        </p:nvSpPr>
        <p:spPr>
          <a:xfrm>
            <a:off x="7552944" y="5486400"/>
            <a:ext cx="3657600" cy="365760"/>
          </a:xfrm>
          <a:prstGeom prst="rect">
            <a:avLst/>
          </a:prstGeom>
          <a:noFill/>
        </p:spPr>
        <p:txBody>
          <a:bodyPr wrap="square" lIns="0" rIns="0" tIns="0" bIns="0">
            <a:spAutoFit/>
          </a:bodyPr>
          <a:lstStyle/>
          <a:p>
            <a:pPr>
              <a:spcAft>
                <a:spcPts val="900"/>
              </a:spcAft>
              <a:defRPr sz="1800" b="1">
                <a:solidFill>
                  <a:srgbClr val="254B3B"/>
                </a:solidFill>
                <a:latin typeface="Aptos"/>
              </a:defRPr>
            </a:pPr>
            <a:r>
              <a:t>No app installation needed.</a:t>
            </a:r>
          </a:p>
        </p:txBody>
      </p:sp>
      <p:sp>
        <p:nvSpPr>
          <p:cNvPr id="27" name="TextBox 26"/>
          <p:cNvSpPr txBox="1"/>
          <p:nvPr/>
        </p:nvSpPr>
        <p:spPr>
          <a:xfrm>
            <a:off x="749808" y="5879592"/>
            <a:ext cx="6135624" cy="420624"/>
          </a:xfrm>
          <a:prstGeom prst="rect">
            <a:avLst/>
          </a:prstGeom>
          <a:noFill/>
        </p:spPr>
        <p:txBody>
          <a:bodyPr wrap="square" lIns="0" rIns="0" tIns="0" bIns="0">
            <a:spAutoFit/>
          </a:bodyPr>
          <a:lstStyle/>
          <a:p>
            <a:pPr>
              <a:spcAft>
                <a:spcPts val="900"/>
              </a:spcAft>
              <a:defRPr sz="1600" b="1">
                <a:solidFill>
                  <a:srgbClr val="254B3B"/>
                </a:solidFill>
                <a:latin typeface="Aptos"/>
              </a:defRPr>
            </a:pPr>
            <a:r>
              <a:t>Result: checks passed; live pages also verified.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83B2B"/>
        </a:solidFill>
        <a:effectLst/>
      </p:bgPr>
    </p:bg>
    <p:spTree>
      <p:nvGrpSpPr>
        <p:cNvPr id="1" name=""/>
        <p:cNvGrpSpPr/>
        <p:nvPr/>
      </p:nvGrpSpPr>
      <p:grpSpPr/>
      <p:sp>
        <p:nvSpPr>
          <p:cNvPr id="2" name="TextBox 1"/>
          <p:cNvSpPr txBox="1"/>
          <p:nvPr/>
        </p:nvSpPr>
        <p:spPr>
          <a:xfrm>
            <a:off x="502920" y="347472"/>
            <a:ext cx="10058400" cy="274320"/>
          </a:xfrm>
          <a:prstGeom prst="rect">
            <a:avLst/>
          </a:prstGeom>
          <a:noFill/>
        </p:spPr>
        <p:txBody>
          <a:bodyPr wrap="square" lIns="0" rIns="0" tIns="0" bIns="0">
            <a:spAutoFit/>
          </a:bodyPr>
          <a:lstStyle/>
          <a:p>
            <a:pPr>
              <a:spcAft>
                <a:spcPts val="900"/>
              </a:spcAft>
              <a:defRPr sz="1100" b="1">
                <a:solidFill>
                  <a:srgbClr val="E9CD76"/>
                </a:solidFill>
                <a:latin typeface="Aptos"/>
              </a:defRPr>
            </a:pPr>
            <a:r>
              <a:t>09 / CONCLUSION &amp; FUTURE SCOPE</a:t>
            </a:r>
          </a:p>
        </p:txBody>
      </p:sp>
      <p:sp>
        <p:nvSpPr>
          <p:cNvPr id="3" name="TextBox 2"/>
          <p:cNvSpPr txBox="1"/>
          <p:nvPr/>
        </p:nvSpPr>
        <p:spPr>
          <a:xfrm>
            <a:off x="502920" y="850392"/>
            <a:ext cx="11155680" cy="960120"/>
          </a:xfrm>
          <a:prstGeom prst="rect">
            <a:avLst/>
          </a:prstGeom>
          <a:noFill/>
        </p:spPr>
        <p:txBody>
          <a:bodyPr wrap="square" lIns="0" rIns="0" tIns="0" bIns="0">
            <a:spAutoFit/>
          </a:bodyPr>
          <a:lstStyle/>
          <a:p>
            <a:pPr>
              <a:spcAft>
                <a:spcPts val="900"/>
              </a:spcAft>
              <a:defRPr sz="3400" b="1">
                <a:solidFill>
                  <a:srgbClr val="FFFDF8"/>
                </a:solidFill>
                <a:latin typeface="Aptos"/>
              </a:defRPr>
            </a:pPr>
            <a:r>
              <a:t>A practical platform for student reuse.</a:t>
            </a:r>
          </a:p>
        </p:txBody>
      </p:sp>
      <p:sp>
        <p:nvSpPr>
          <p:cNvPr id="4" name="Rectangle 3"/>
          <p:cNvSpPr/>
          <p:nvPr/>
        </p:nvSpPr>
        <p:spPr>
          <a:xfrm>
            <a:off x="502920" y="6419088"/>
            <a:ext cx="11183112" cy="13716"/>
          </a:xfrm>
          <a:prstGeom prst="rect">
            <a:avLst/>
          </a:prstGeom>
          <a:solidFill>
            <a:srgbClr val="254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37960"/>
            <a:ext cx="9144000" cy="164592"/>
          </a:xfrm>
          <a:prstGeom prst="rect">
            <a:avLst/>
          </a:prstGeom>
          <a:noFill/>
        </p:spPr>
        <p:txBody>
          <a:bodyPr wrap="square" lIns="0" rIns="0" tIns="0" bIns="0">
            <a:spAutoFit/>
          </a:bodyPr>
          <a:lstStyle/>
          <a:p>
            <a:pPr>
              <a:spcAft>
                <a:spcPts val="900"/>
              </a:spcAft>
              <a:defRPr sz="900" b="1">
                <a:solidFill>
                  <a:srgbClr val="DADDD1"/>
                </a:solidFill>
                <a:latin typeface="Aptos"/>
              </a:defRPr>
            </a:pPr>
            <a:r>
              <a:t>CAMPUS LOOP  /  COLLEGE PROJECT</a:t>
            </a:r>
          </a:p>
        </p:txBody>
      </p:sp>
      <p:sp>
        <p:nvSpPr>
          <p:cNvPr id="6" name="TextBox 5"/>
          <p:cNvSpPr txBox="1"/>
          <p:nvPr/>
        </p:nvSpPr>
        <p:spPr>
          <a:xfrm>
            <a:off x="11018520" y="6519672"/>
            <a:ext cx="731520" cy="201168"/>
          </a:xfrm>
          <a:prstGeom prst="rect">
            <a:avLst/>
          </a:prstGeom>
          <a:noFill/>
        </p:spPr>
        <p:txBody>
          <a:bodyPr wrap="square" lIns="0" rIns="0" tIns="0" bIns="0">
            <a:spAutoFit/>
          </a:bodyPr>
          <a:lstStyle/>
          <a:p>
            <a:pPr>
              <a:spcAft>
                <a:spcPts val="900"/>
              </a:spcAft>
              <a:defRPr sz="1000" b="1">
                <a:solidFill>
                  <a:srgbClr val="E9CD76"/>
                </a:solidFill>
                <a:latin typeface="Aptos"/>
              </a:defRPr>
            </a:pPr>
            <a:r>
              <a:t>10 / 10</a:t>
            </a:r>
          </a:p>
        </p:txBody>
      </p:sp>
      <p:sp>
        <p:nvSpPr>
          <p:cNvPr id="7" name="TextBox 6"/>
          <p:cNvSpPr txBox="1"/>
          <p:nvPr/>
        </p:nvSpPr>
        <p:spPr>
          <a:xfrm>
            <a:off x="594360" y="2423160"/>
            <a:ext cx="4754880" cy="274320"/>
          </a:xfrm>
          <a:prstGeom prst="rect">
            <a:avLst/>
          </a:prstGeom>
          <a:noFill/>
        </p:spPr>
        <p:txBody>
          <a:bodyPr wrap="square" lIns="0" rIns="0" tIns="0" bIns="0">
            <a:spAutoFit/>
          </a:bodyPr>
          <a:lstStyle/>
          <a:p>
            <a:pPr>
              <a:spcAft>
                <a:spcPts val="900"/>
              </a:spcAft>
              <a:defRPr sz="1200" b="1">
                <a:solidFill>
                  <a:srgbClr val="E9CD76"/>
                </a:solidFill>
                <a:latin typeface="Aptos"/>
              </a:defRPr>
            </a:pPr>
            <a:r>
              <a:t>WHAT WE BUILT</a:t>
            </a:r>
          </a:p>
        </p:txBody>
      </p:sp>
      <p:sp>
        <p:nvSpPr>
          <p:cNvPr id="8" name="TextBox 7"/>
          <p:cNvSpPr txBox="1"/>
          <p:nvPr/>
        </p:nvSpPr>
        <p:spPr>
          <a:xfrm>
            <a:off x="594360" y="2916936"/>
            <a:ext cx="5852160" cy="1737360"/>
          </a:xfrm>
          <a:prstGeom prst="rect">
            <a:avLst/>
          </a:prstGeom>
          <a:noFill/>
        </p:spPr>
        <p:txBody>
          <a:bodyPr wrap="square" lIns="0" rIns="0" tIns="0" bIns="0">
            <a:spAutoFit/>
          </a:bodyPr>
          <a:lstStyle/>
          <a:p>
            <a:pPr>
              <a:spcAft>
                <a:spcPts val="900"/>
              </a:spcAft>
              <a:defRPr sz="2300" b="0">
                <a:solidFill>
                  <a:srgbClr val="FFFDF8"/>
                </a:solidFill>
                <a:latin typeface="Aptos"/>
              </a:defRPr>
            </a:pPr>
            <a:r>
              <a:t>A central place to find campus items</a:t>
            </a:r>
          </a:p>
          <a:p>
            <a:pPr>
              <a:spcAft>
                <a:spcPts val="900"/>
              </a:spcAft>
              <a:defRPr sz="2300" b="0">
                <a:solidFill>
                  <a:srgbClr val="FFFDF8"/>
                </a:solidFill>
                <a:latin typeface="Aptos"/>
              </a:defRPr>
            </a:pPr>
            <a:r>
              <a:t>Chat and confirmed deal records</a:t>
            </a:r>
          </a:p>
          <a:p>
            <a:pPr>
              <a:spcAft>
                <a:spcPts val="900"/>
              </a:spcAft>
              <a:defRPr sz="2300" b="0">
                <a:solidFill>
                  <a:srgbClr val="FFFDF8"/>
                </a:solidFill>
                <a:latin typeface="Aptos"/>
              </a:defRPr>
            </a:pPr>
            <a:r>
              <a:t>Admin controls and email updates</a:t>
            </a:r>
          </a:p>
        </p:txBody>
      </p:sp>
      <p:sp>
        <p:nvSpPr>
          <p:cNvPr id="9" name="TextBox 8"/>
          <p:cNvSpPr txBox="1"/>
          <p:nvPr/>
        </p:nvSpPr>
        <p:spPr>
          <a:xfrm>
            <a:off x="6922008" y="2423160"/>
            <a:ext cx="4572000" cy="365760"/>
          </a:xfrm>
          <a:prstGeom prst="rect">
            <a:avLst/>
          </a:prstGeom>
          <a:noFill/>
        </p:spPr>
        <p:txBody>
          <a:bodyPr wrap="square" lIns="0" rIns="0" tIns="0" bIns="0">
            <a:spAutoFit/>
          </a:bodyPr>
          <a:lstStyle/>
          <a:p>
            <a:pPr>
              <a:spcAft>
                <a:spcPts val="900"/>
              </a:spcAft>
              <a:defRPr sz="1200" b="1">
                <a:solidFill>
                  <a:srgbClr val="E9CD76"/>
                </a:solidFill>
                <a:latin typeface="Aptos"/>
              </a:defRPr>
            </a:pPr>
            <a:r>
              <a:t>FUTURE SCOPE</a:t>
            </a:r>
          </a:p>
        </p:txBody>
      </p:sp>
      <p:sp>
        <p:nvSpPr>
          <p:cNvPr id="10" name="TextBox 9"/>
          <p:cNvSpPr txBox="1"/>
          <p:nvPr/>
        </p:nvSpPr>
        <p:spPr>
          <a:xfrm>
            <a:off x="6922008" y="2916936"/>
            <a:ext cx="4617720" cy="1737360"/>
          </a:xfrm>
          <a:prstGeom prst="rect">
            <a:avLst/>
          </a:prstGeom>
          <a:noFill/>
        </p:spPr>
        <p:txBody>
          <a:bodyPr wrap="square" lIns="0" rIns="0" tIns="0" bIns="0">
            <a:spAutoFit/>
          </a:bodyPr>
          <a:lstStyle/>
          <a:p>
            <a:pPr>
              <a:spcAft>
                <a:spcPts val="900"/>
              </a:spcAft>
              <a:defRPr sz="2300" b="0">
                <a:solidFill>
                  <a:srgbClr val="FFFDF8"/>
                </a:solidFill>
                <a:latin typeface="Aptos"/>
              </a:defRPr>
            </a:pPr>
            <a:r>
              <a:t>Online payment integration</a:t>
            </a:r>
          </a:p>
          <a:p>
            <a:pPr>
              <a:spcAft>
                <a:spcPts val="900"/>
              </a:spcAft>
              <a:defRPr sz="2300" b="0">
                <a:solidFill>
                  <a:srgbClr val="FFFDF8"/>
                </a:solidFill>
                <a:latin typeface="Aptos"/>
              </a:defRPr>
            </a:pPr>
            <a:r>
              <a:t>Push notifications</a:t>
            </a:r>
          </a:p>
          <a:p>
            <a:pPr>
              <a:spcAft>
                <a:spcPts val="900"/>
              </a:spcAft>
              <a:defRPr sz="2300" b="0">
                <a:solidFill>
                  <a:srgbClr val="FFFDF8"/>
                </a:solidFill>
                <a:latin typeface="Aptos"/>
              </a:defRPr>
            </a:pPr>
            <a:r>
              <a:t>College identity verification</a:t>
            </a:r>
          </a:p>
        </p:txBody>
      </p:sp>
      <p:sp>
        <p:nvSpPr>
          <p:cNvPr id="11" name="TextBox 10"/>
          <p:cNvSpPr txBox="1"/>
          <p:nvPr/>
        </p:nvSpPr>
        <p:spPr>
          <a:xfrm>
            <a:off x="621792" y="4800600"/>
            <a:ext cx="10698480" cy="320040"/>
          </a:xfrm>
          <a:prstGeom prst="rect">
            <a:avLst/>
          </a:prstGeom>
          <a:noFill/>
        </p:spPr>
        <p:txBody>
          <a:bodyPr wrap="square" lIns="0" rIns="0" tIns="0" bIns="0">
            <a:spAutoFit/>
          </a:bodyPr>
          <a:lstStyle/>
          <a:p>
            <a:pPr>
              <a:spcAft>
                <a:spcPts val="900"/>
              </a:spcAft>
              <a:defRPr sz="1800" b="0">
                <a:solidFill>
                  <a:srgbClr val="DADDD1"/>
                </a:solidFill>
                <a:latin typeface="Aptos"/>
              </a:defRPr>
            </a:pPr>
            <a:r>
              <a:t>Current scope: students arrange payment and pickup themselves.</a:t>
            </a:r>
          </a:p>
        </p:txBody>
      </p:sp>
      <p:sp>
        <p:nvSpPr>
          <p:cNvPr id="12" name="Rounded Rectangle 11"/>
          <p:cNvSpPr/>
          <p:nvPr/>
        </p:nvSpPr>
        <p:spPr>
          <a:xfrm>
            <a:off x="594360" y="5404104"/>
            <a:ext cx="11000232" cy="658368"/>
          </a:xfrm>
          <a:prstGeom prst="roundRect">
            <a:avLst/>
          </a:prstGeom>
          <a:solidFill>
            <a:srgbClr val="E9C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541264"/>
            <a:ext cx="8229600" cy="429768"/>
          </a:xfrm>
          <a:prstGeom prst="rect">
            <a:avLst/>
          </a:prstGeom>
          <a:noFill/>
        </p:spPr>
        <p:txBody>
          <a:bodyPr wrap="square" lIns="0" rIns="0" tIns="0" bIns="0">
            <a:spAutoFit/>
          </a:bodyPr>
          <a:lstStyle/>
          <a:p>
            <a:pPr>
              <a:spcAft>
                <a:spcPts val="900"/>
              </a:spcAft>
              <a:defRPr sz="2500" b="1">
                <a:solidFill>
                  <a:srgbClr val="183B2B"/>
                </a:solidFill>
                <a:latin typeface="Aptos"/>
              </a:defRPr>
            </a:pPr>
            <a:r>
              <a:rPr>
                <a:hlinkClick r:id="rId2"/>
              </a:rPr>
              <a:t>campus-loop-rho.vercel.app</a:t>
            </a:r>
          </a:p>
        </p:txBody>
      </p:sp>
      <p:sp>
        <p:nvSpPr>
          <p:cNvPr id="14" name="TextBox 13"/>
          <p:cNvSpPr txBox="1"/>
          <p:nvPr/>
        </p:nvSpPr>
        <p:spPr>
          <a:xfrm>
            <a:off x="9253728" y="5650992"/>
            <a:ext cx="2103120" cy="274320"/>
          </a:xfrm>
          <a:prstGeom prst="rect">
            <a:avLst/>
          </a:prstGeom>
          <a:noFill/>
        </p:spPr>
        <p:txBody>
          <a:bodyPr wrap="square" lIns="0" rIns="0" tIns="0" bIns="0">
            <a:spAutoFit/>
          </a:bodyPr>
          <a:lstStyle/>
          <a:p>
            <a:pPr>
              <a:spcAft>
                <a:spcPts val="900"/>
              </a:spcAft>
              <a:defRPr sz="1600" b="1">
                <a:solidFill>
                  <a:srgbClr val="183B2B"/>
                </a:solidFill>
                <a:latin typeface="Aptos"/>
              </a:defRPr>
            </a:pPr>
            <a:r>
              <a:t>Thank you  /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Loop — College Project Presentation</dc:title>
  <dc:subject>Student marketplace: features, design, architecture, database, administration and deployment</dc:subject>
  <dc:creator>Srusthi Pisal, Shraddha Dhadas, Sanchita Yadav</dc:creator>
  <cp:keywords>Campus Loop, college project, student marketplace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